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72" r:id="rId5"/>
    <p:sldId id="258" r:id="rId6"/>
    <p:sldId id="273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</p:sldIdLst>
  <p:sldSz cx="14630400" cy="8229600"/>
  <p:notesSz cx="8229600" cy="14630400"/>
  <p:embeddedFontLst>
    <p:embeddedFont>
      <p:font typeface="Barlow Bold" panose="00000800000000000000" pitchFamily="34" charset="0"/>
      <p:bold r:id="rId21"/>
    </p:embeddedFont>
    <p:embeddedFont>
      <p:font typeface="Barlow Bold" panose="00000800000000000000" pitchFamily="34" charset="-122"/>
      <p:bold r:id="rId22"/>
    </p:embeddedFont>
    <p:embeddedFont>
      <p:font typeface="Barlow Bold" panose="00000800000000000000" pitchFamily="34" charset="-120"/>
      <p:bold r:id="rId23"/>
    </p:embeddedFont>
    <p:embeddedFont>
      <p:font typeface="Montserrat" panose="00000500000000000000" pitchFamily="34" charset="0"/>
      <p:regular r:id="rId24"/>
      <p:bold r:id="rId25"/>
      <p:italic r:id="rId26"/>
    </p:embeddedFont>
    <p:embeddedFont>
      <p:font typeface="Montserrat" panose="00000500000000000000" pitchFamily="34" charset="-122"/>
      <p:regular r:id="rId27"/>
    </p:embeddedFont>
    <p:embeddedFont>
      <p:font typeface="Montserrat" panose="00000500000000000000" pitchFamily="34" charset="-120"/>
      <p:regular r:id="rId28"/>
    </p:embeddedFont>
    <p:embeddedFont>
      <p:font typeface="Consolas" panose="020B0609020204030204" pitchFamily="34" charset="0"/>
      <p:regular r:id="rId29"/>
      <p:bold r:id="rId30"/>
      <p:italic r:id="rId31"/>
      <p:boldItalic r:id="rId32"/>
    </p:embeddedFont>
    <p:embeddedFont>
      <p:font typeface="Consolas" panose="020B0609020204030204" pitchFamily="34" charset="-122"/>
      <p:regular r:id="rId33"/>
    </p:embeddedFont>
    <p:embeddedFont>
      <p:font typeface="Consolas" panose="020B0609020204030204" pitchFamily="34" charset="-120"/>
      <p:regular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BACB"/>
    <a:srgbClr val="006495"/>
    <a:srgbClr val="D0E3E9"/>
    <a:srgbClr val="FFFFFF"/>
    <a:srgbClr val="F2F2F2"/>
    <a:srgbClr val="395DB1"/>
    <a:srgbClr val="1B2D5D"/>
    <a:srgbClr val="204C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18.fntdata"/><Relationship Id="rId37" Type="http://schemas.openxmlformats.org/officeDocument/2006/relationships/font" Target="fonts/font17.fntdata"/><Relationship Id="rId36" Type="http://schemas.openxmlformats.org/officeDocument/2006/relationships/font" Target="fonts/font16.fntdata"/><Relationship Id="rId35" Type="http://schemas.openxmlformats.org/officeDocument/2006/relationships/font" Target="fonts/font15.fntdata"/><Relationship Id="rId34" Type="http://schemas.openxmlformats.org/officeDocument/2006/relationships/font" Target="fonts/font14.fntdata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4C8E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0F2F7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FCBF8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FCBF8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FCBF8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FCBF8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FCBF8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EE4BD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3.jpe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4.xml"/><Relationship Id="rId16" Type="http://schemas.openxmlformats.org/officeDocument/2006/relationships/image" Target="../media/image23.png"/><Relationship Id="rId15" Type="http://schemas.openxmlformats.org/officeDocument/2006/relationships/image" Target="../media/image22.png"/><Relationship Id="rId14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2" Type="http://schemas.openxmlformats.org/officeDocument/2006/relationships/slideLayout" Target="../slideLayouts/slideLayout5.xml"/><Relationship Id="rId11" Type="http://schemas.openxmlformats.org/officeDocument/2006/relationships/image" Target="../media/image25.png"/><Relationship Id="rId10" Type="http://schemas.openxmlformats.org/officeDocument/2006/relationships/image" Target="../media/image23.png"/><Relationship Id="rId1" Type="http://schemas.openxmlformats.org/officeDocument/2006/relationships/image" Target="../media/image2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image" Target="../media/image2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0" Type="http://schemas.openxmlformats.org/officeDocument/2006/relationships/notesSlide" Target="../notesSlides/notesSlide5.xml"/><Relationship Id="rId2" Type="http://schemas.openxmlformats.org/officeDocument/2006/relationships/image" Target="../media/image27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43.png"/><Relationship Id="rId17" Type="http://schemas.openxmlformats.org/officeDocument/2006/relationships/image" Target="../media/image42.png"/><Relationship Id="rId16" Type="http://schemas.openxmlformats.org/officeDocument/2006/relationships/image" Target="../media/image41.png"/><Relationship Id="rId15" Type="http://schemas.openxmlformats.org/officeDocument/2006/relationships/image" Target="../media/image40.png"/><Relationship Id="rId14" Type="http://schemas.openxmlformats.org/officeDocument/2006/relationships/image" Target="../media/image39.png"/><Relationship Id="rId13" Type="http://schemas.openxmlformats.org/officeDocument/2006/relationships/image" Target="../media/image38.png"/><Relationship Id="rId12" Type="http://schemas.openxmlformats.org/officeDocument/2006/relationships/image" Target="../media/image37.png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43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2.png"/><Relationship Id="rId3" Type="http://schemas.openxmlformats.org/officeDocument/2006/relationships/image" Target="../media/image38.png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8.xml"/><Relationship Id="rId24" Type="http://schemas.openxmlformats.org/officeDocument/2006/relationships/image" Target="../media/image51.png"/><Relationship Id="rId23" Type="http://schemas.openxmlformats.org/officeDocument/2006/relationships/image" Target="../media/image50.png"/><Relationship Id="rId22" Type="http://schemas.openxmlformats.org/officeDocument/2006/relationships/image" Target="../media/image49.png"/><Relationship Id="rId21" Type="http://schemas.openxmlformats.org/officeDocument/2006/relationships/image" Target="../media/image48.png"/><Relationship Id="rId20" Type="http://schemas.openxmlformats.org/officeDocument/2006/relationships/image" Target="../media/image47.png"/><Relationship Id="rId2" Type="http://schemas.openxmlformats.org/officeDocument/2006/relationships/image" Target="../media/image37.png"/><Relationship Id="rId19" Type="http://schemas.openxmlformats.org/officeDocument/2006/relationships/image" Target="../media/image46.png"/><Relationship Id="rId18" Type="http://schemas.openxmlformats.org/officeDocument/2006/relationships/image" Target="../media/image45.png"/><Relationship Id="rId17" Type="http://schemas.openxmlformats.org/officeDocument/2006/relationships/image" Target="../media/image29.png"/><Relationship Id="rId16" Type="http://schemas.openxmlformats.org/officeDocument/2006/relationships/image" Target="../media/image30.png"/><Relationship Id="rId15" Type="http://schemas.openxmlformats.org/officeDocument/2006/relationships/image" Target="../media/image31.png"/><Relationship Id="rId14" Type="http://schemas.openxmlformats.org/officeDocument/2006/relationships/image" Target="../media/image32.png"/><Relationship Id="rId13" Type="http://schemas.openxmlformats.org/officeDocument/2006/relationships/image" Target="../media/image33.png"/><Relationship Id="rId12" Type="http://schemas.openxmlformats.org/officeDocument/2006/relationships/image" Target="../media/image34.png"/><Relationship Id="rId11" Type="http://schemas.openxmlformats.org/officeDocument/2006/relationships/image" Target="../media/image35.png"/><Relationship Id="rId10" Type="http://schemas.openxmlformats.org/officeDocument/2006/relationships/image" Target="../media/image36.png"/><Relationship Id="rId1" Type="http://schemas.openxmlformats.org/officeDocument/2006/relationships/image" Target="../media/image4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45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9.xml"/><Relationship Id="rId13" Type="http://schemas.openxmlformats.org/officeDocument/2006/relationships/image" Target="../media/image57.png"/><Relationship Id="rId12" Type="http://schemas.openxmlformats.org/officeDocument/2006/relationships/image" Target="../media/image56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0.xml"/><Relationship Id="rId13" Type="http://schemas.microsoft.com/office/2007/relationships/hdphoto" Target="../media/image64.wdp"/><Relationship Id="rId12" Type="http://schemas.openxmlformats.org/officeDocument/2006/relationships/image" Target="../media/image63.png"/><Relationship Id="rId11" Type="http://schemas.openxmlformats.org/officeDocument/2006/relationships/image" Target="../media/image62.png"/><Relationship Id="rId10" Type="http://schemas.openxmlformats.org/officeDocument/2006/relationships/image" Target="../media/image61.png"/><Relationship Id="rId1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microsoft.com/office/2007/relationships/hdphoto" Target="../media/image64.wdp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1.xml"/><Relationship Id="rId1" Type="http://schemas.openxmlformats.org/officeDocument/2006/relationships/image" Target="../media/image65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77.jpeg"/><Relationship Id="rId11" Type="http://schemas.openxmlformats.org/officeDocument/2006/relationships/image" Target="../media/image76.png"/><Relationship Id="rId10" Type="http://schemas.openxmlformats.org/officeDocument/2006/relationships/image" Target="../media/image75.png"/><Relationship Id="rId1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png"/><Relationship Id="rId8" Type="http://schemas.openxmlformats.org/officeDocument/2006/relationships/image" Target="../media/image75.png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4.xml"/><Relationship Id="rId16" Type="http://schemas.openxmlformats.org/officeDocument/2006/relationships/image" Target="../media/image84.png"/><Relationship Id="rId15" Type="http://schemas.openxmlformats.org/officeDocument/2006/relationships/image" Target="../media/image83.png"/><Relationship Id="rId14" Type="http://schemas.openxmlformats.org/officeDocument/2006/relationships/image" Target="../media/image82.png"/><Relationship Id="rId13" Type="http://schemas.openxmlformats.org/officeDocument/2006/relationships/image" Target="../media/image81.png"/><Relationship Id="rId12" Type="http://schemas.openxmlformats.org/officeDocument/2006/relationships/image" Target="../media/image80.png"/><Relationship Id="rId11" Type="http://schemas.openxmlformats.org/officeDocument/2006/relationships/image" Target="../media/image79.png"/><Relationship Id="rId10" Type="http://schemas.openxmlformats.org/officeDocument/2006/relationships/image" Target="../media/image78.png"/><Relationship Id="rId1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png"/><Relationship Id="rId7" Type="http://schemas.openxmlformats.org/officeDocument/2006/relationships/image" Target="../media/image82.png"/><Relationship Id="rId6" Type="http://schemas.openxmlformats.org/officeDocument/2006/relationships/image" Target="../media/image86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5.xml"/><Relationship Id="rId10" Type="http://schemas.openxmlformats.org/officeDocument/2006/relationships/hyperlink" Target="https://github.com/saikumar-ml" TargetMode="External"/><Relationship Id="rId1" Type="http://schemas.openxmlformats.org/officeDocument/2006/relationships/image" Target="../media/image8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640x1136px | free download | HD wallpaper: Selective Focus Photography of  Tree Leaves, blur, blurred background | Wallpaper Flar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25908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314754"/>
            <a:ext cx="7627382" cy="29507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AI-Driven Climate Change Model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44709" y="4815483"/>
            <a:ext cx="76273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 Data-Driven Approach using Multi-model Regression System</a:t>
            </a:r>
            <a:endParaRPr lang="en-US" sz="1700" b="1" dirty="0">
              <a:solidFill>
                <a:srgbClr val="FFFFFF"/>
              </a:solidFill>
              <a:latin typeface="Montserrat" panose="00000500000000000000" pitchFamily="34" charset="0"/>
              <a:ea typeface="Montserrat" panose="00000500000000000000" pitchFamily="34" charset="-122"/>
              <a:cs typeface="Montserrat" panose="00000500000000000000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and Feature Importance Analysis</a:t>
            </a:r>
            <a:endParaRPr lang="en-US" sz="1700" b="1" dirty="0">
              <a:solidFill>
                <a:srgbClr val="FFFFFF"/>
              </a:solidFill>
              <a:latin typeface="Montserrat" panose="00000500000000000000" pitchFamily="34" charset="0"/>
              <a:ea typeface="Montserrat" panose="00000500000000000000" pitchFamily="34" charset="-122"/>
              <a:cs typeface="Montserrat" panose="00000500000000000000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sz="1700" b="1" dirty="0"/>
          </a:p>
        </p:txBody>
      </p:sp>
      <p:sp>
        <p:nvSpPr>
          <p:cNvPr id="5" name="Text 2"/>
          <p:cNvSpPr/>
          <p:nvPr/>
        </p:nvSpPr>
        <p:spPr>
          <a:xfrm>
            <a:off x="6244709" y="5752624"/>
            <a:ext cx="76273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Presented by: Sai kumar Gaddam</a:t>
            </a:r>
            <a:endParaRPr lang="en-US" sz="1700" b="1" dirty="0"/>
          </a:p>
        </p:txBody>
      </p:sp>
      <p:sp>
        <p:nvSpPr>
          <p:cNvPr id="6" name="Text 3"/>
          <p:cNvSpPr/>
          <p:nvPr/>
        </p:nvSpPr>
        <p:spPr>
          <a:xfrm>
            <a:off x="6244709" y="6307455"/>
            <a:ext cx="76273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July 2025</a:t>
            </a:r>
            <a:endParaRPr lang="en-US" sz="1700" b="1" dirty="0"/>
          </a:p>
        </p:txBody>
      </p:sp>
      <p:sp>
        <p:nvSpPr>
          <p:cNvPr id="8" name="Rectangle 7"/>
          <p:cNvSpPr/>
          <p:nvPr/>
        </p:nvSpPr>
        <p:spPr>
          <a:xfrm>
            <a:off x="11692890" y="6480810"/>
            <a:ext cx="1855470" cy="3467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640x1136px | free download | HD wallpaper: Selective Focus Photography of  Tree Leaves, blur, blurred background | Wallpaper Flare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54" r="16354"/>
          <a:stretch>
            <a:fillRect/>
          </a:stretch>
        </p:blipFill>
        <p:spPr bwMode="auto">
          <a:xfrm>
            <a:off x="1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/>
          <p:cNvSpPr/>
          <p:nvPr/>
        </p:nvSpPr>
        <p:spPr>
          <a:xfrm>
            <a:off x="6244709" y="1539835"/>
            <a:ext cx="7627382" cy="29507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44709" y="4815483"/>
            <a:ext cx="76273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5752624"/>
            <a:ext cx="76273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302214" y="6063676"/>
            <a:ext cx="13512373" cy="899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8" name="Rectangle 7"/>
          <p:cNvSpPr/>
          <p:nvPr/>
        </p:nvSpPr>
        <p:spPr>
          <a:xfrm>
            <a:off x="11692890" y="6480810"/>
            <a:ext cx="1855470" cy="3467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05395"/>
            <a:ext cx="5760720" cy="82296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6244709" y="-6865560"/>
            <a:ext cx="7627382" cy="29507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Climate-Aware Temperature Prediction</a:t>
            </a:r>
            <a:endParaRPr lang="en-US" sz="6150" dirty="0"/>
          </a:p>
        </p:txBody>
      </p:sp>
      <p:sp>
        <p:nvSpPr>
          <p:cNvPr id="11" name="Text 1"/>
          <p:cNvSpPr/>
          <p:nvPr/>
        </p:nvSpPr>
        <p:spPr>
          <a:xfrm>
            <a:off x="6244709" y="-3589912"/>
            <a:ext cx="76273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 Data-Driven Approach using Multi-model Regression System and Feature Importance Analysis</a:t>
            </a:r>
            <a:endParaRPr lang="en-US" sz="1700" dirty="0">
              <a:solidFill>
                <a:srgbClr val="FFFFFF"/>
              </a:solidFill>
              <a:latin typeface="Montserrat" panose="00000500000000000000" pitchFamily="34" charset="0"/>
              <a:ea typeface="Montserrat" panose="00000500000000000000" pitchFamily="34" charset="-122"/>
              <a:cs typeface="Montserrat" panose="00000500000000000000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2" name="Text 2"/>
          <p:cNvSpPr/>
          <p:nvPr/>
        </p:nvSpPr>
        <p:spPr>
          <a:xfrm>
            <a:off x="6244709" y="-2652771"/>
            <a:ext cx="76273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Presented by: Saikumar</a:t>
            </a:r>
            <a:endParaRPr lang="en-US" sz="1700" dirty="0"/>
          </a:p>
        </p:txBody>
      </p:sp>
      <p:sp>
        <p:nvSpPr>
          <p:cNvPr id="13" name="Text 3"/>
          <p:cNvSpPr/>
          <p:nvPr/>
        </p:nvSpPr>
        <p:spPr>
          <a:xfrm>
            <a:off x="6244709" y="-2097940"/>
            <a:ext cx="76273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July 2025</a:t>
            </a:r>
            <a:endParaRPr lang="en-US" sz="1700" dirty="0"/>
          </a:p>
        </p:txBody>
      </p:sp>
      <p:sp>
        <p:nvSpPr>
          <p:cNvPr id="14" name="Text 0"/>
          <p:cNvSpPr/>
          <p:nvPr/>
        </p:nvSpPr>
        <p:spPr>
          <a:xfrm>
            <a:off x="707231" y="555665"/>
            <a:ext cx="3456384" cy="4319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Introduction</a:t>
            </a:r>
            <a:endParaRPr lang="en-US" sz="2700" dirty="0">
              <a:solidFill>
                <a:schemeClr val="bg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" y="1332309"/>
            <a:ext cx="6440211" cy="639132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825" y="1332309"/>
            <a:ext cx="393978" cy="393978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825" y="2902863"/>
            <a:ext cx="393978" cy="393978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825" y="4473416"/>
            <a:ext cx="393978" cy="393978"/>
          </a:xfrm>
          <a:prstGeom prst="rect">
            <a:avLst/>
          </a:prstGeom>
        </p:spPr>
      </p:pic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825" y="6089928"/>
            <a:ext cx="393978" cy="393978"/>
          </a:xfrm>
          <a:prstGeom prst="rect">
            <a:avLst/>
          </a:prstGeom>
        </p:spPr>
      </p:pic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959" y="1513999"/>
            <a:ext cx="6447830" cy="60960"/>
          </a:xfrm>
          <a:prstGeom prst="rect">
            <a:avLst/>
          </a:prstGeom>
        </p:spPr>
      </p:pic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959" y="3084552"/>
            <a:ext cx="6447830" cy="60960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959" y="4655106"/>
            <a:ext cx="6447830" cy="60960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959" y="6271617"/>
            <a:ext cx="6447830" cy="60960"/>
          </a:xfrm>
          <a:prstGeom prst="rect">
            <a:avLst/>
          </a:prstGeom>
        </p:spPr>
      </p:pic>
      <p:sp>
        <p:nvSpPr>
          <p:cNvPr id="28" name="Text 1"/>
          <p:cNvSpPr/>
          <p:nvPr/>
        </p:nvSpPr>
        <p:spPr>
          <a:xfrm>
            <a:off x="7629525" y="1857494"/>
            <a:ext cx="1882259" cy="2160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Global Climate Challenge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9" name="Text 2"/>
          <p:cNvSpPr/>
          <p:nvPr/>
        </p:nvSpPr>
        <p:spPr>
          <a:xfrm>
            <a:off x="7629525" y="2204918"/>
            <a:ext cx="6154698" cy="4200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Climate change is causing extreme weather, sea level rise, and rising global temperatures, impacting communities worldwide.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Text 3"/>
          <p:cNvSpPr/>
          <p:nvPr/>
        </p:nvSpPr>
        <p:spPr>
          <a:xfrm>
            <a:off x="7629525" y="3428048"/>
            <a:ext cx="2230160" cy="2160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Need for Accurate Prediction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31" name="Text 4"/>
          <p:cNvSpPr/>
          <p:nvPr/>
        </p:nvSpPr>
        <p:spPr>
          <a:xfrm>
            <a:off x="7629525" y="3775472"/>
            <a:ext cx="6154698" cy="4200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Understanding the drivers of temperature change is critical for informed policy-making and strategic planning.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" name="Text 5"/>
          <p:cNvSpPr/>
          <p:nvPr/>
        </p:nvSpPr>
        <p:spPr>
          <a:xfrm>
            <a:off x="7629525" y="4998601"/>
            <a:ext cx="2236113" cy="2160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Leveraging Machine Learning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33" name="Text 6"/>
          <p:cNvSpPr/>
          <p:nvPr/>
        </p:nvSpPr>
        <p:spPr>
          <a:xfrm>
            <a:off x="7629525" y="5346025"/>
            <a:ext cx="6154698" cy="2100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Identifies hidden patterns in complex climate datasets.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4" name="Text 7"/>
          <p:cNvSpPr/>
          <p:nvPr/>
        </p:nvSpPr>
        <p:spPr>
          <a:xfrm>
            <a:off x="7629525" y="5602010"/>
            <a:ext cx="6154698" cy="2100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Enables more precise forecasting of future climate trends.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5" name="Text 8"/>
          <p:cNvSpPr/>
          <p:nvPr/>
        </p:nvSpPr>
        <p:spPr>
          <a:xfrm>
            <a:off x="7629525" y="6615113"/>
            <a:ext cx="1860471" cy="2160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Our Project Contribution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36" name="Text 9"/>
          <p:cNvSpPr/>
          <p:nvPr/>
        </p:nvSpPr>
        <p:spPr>
          <a:xfrm>
            <a:off x="7629525" y="6962537"/>
            <a:ext cx="6154698" cy="4200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We use real-world climate data and ML  to predict temperature and uncover key influencing factors.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3" name="Text 1"/>
          <p:cNvSpPr/>
          <p:nvPr/>
        </p:nvSpPr>
        <p:spPr>
          <a:xfrm>
            <a:off x="-8191917" y="555610"/>
            <a:ext cx="3529489" cy="441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Research Problem</a:t>
            </a:r>
            <a:endParaRPr lang="en-US" sz="2750" dirty="0">
              <a:solidFill>
                <a:schemeClr val="bg1"/>
              </a:solidFill>
            </a:endParaRPr>
          </a:p>
        </p:txBody>
      </p:sp>
      <p:pic>
        <p:nvPicPr>
          <p:cNvPr id="5120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191917" y="1348685"/>
            <a:ext cx="335280" cy="335280"/>
          </a:xfrm>
          <a:prstGeom prst="rect">
            <a:avLst/>
          </a:prstGeom>
        </p:spPr>
      </p:pic>
      <p:sp>
        <p:nvSpPr>
          <p:cNvPr id="5121" name="Text 2"/>
          <p:cNvSpPr/>
          <p:nvPr/>
        </p:nvSpPr>
        <p:spPr>
          <a:xfrm>
            <a:off x="-8191917" y="1851605"/>
            <a:ext cx="1764744" cy="220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 Complexity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5123" name="Text 3"/>
          <p:cNvSpPr/>
          <p:nvPr/>
        </p:nvSpPr>
        <p:spPr>
          <a:xfrm>
            <a:off x="-8191917" y="2206173"/>
            <a:ext cx="6429494" cy="4293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</a:rPr>
              <a:t>Climate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</a:rPr>
              <a:t>data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is inherently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complex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,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nonlinear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, and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multi-variable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, making direct analysis challenging.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5124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191917" y="2970793"/>
            <a:ext cx="335280" cy="335280"/>
          </a:xfrm>
          <a:prstGeom prst="rect">
            <a:avLst/>
          </a:prstGeom>
        </p:spPr>
      </p:pic>
      <p:sp>
        <p:nvSpPr>
          <p:cNvPr id="5125" name="Text 4"/>
          <p:cNvSpPr/>
          <p:nvPr/>
        </p:nvSpPr>
        <p:spPr>
          <a:xfrm>
            <a:off x="-8191917" y="3473713"/>
            <a:ext cx="1768078" cy="220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Traditional Limitations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5126" name="Text 5"/>
          <p:cNvSpPr/>
          <p:nvPr/>
        </p:nvSpPr>
        <p:spPr>
          <a:xfrm>
            <a:off x="-8191917" y="3828281"/>
            <a:ext cx="6429494" cy="4293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Manual temperature prediction methods are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inefficient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and often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prone to error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, struggling with vast datasets.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5127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191917" y="4592900"/>
            <a:ext cx="335280" cy="335280"/>
          </a:xfrm>
          <a:prstGeom prst="rect">
            <a:avLst/>
          </a:prstGeom>
        </p:spPr>
      </p:pic>
      <p:sp>
        <p:nvSpPr>
          <p:cNvPr id="5128" name="Text 6"/>
          <p:cNvSpPr/>
          <p:nvPr/>
        </p:nvSpPr>
        <p:spPr>
          <a:xfrm>
            <a:off x="-8191917" y="5095820"/>
            <a:ext cx="1764744" cy="220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Tooling Gap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5129" name="Text 7"/>
          <p:cNvSpPr/>
          <p:nvPr/>
        </p:nvSpPr>
        <p:spPr>
          <a:xfrm>
            <a:off x="-8191917" y="5450388"/>
            <a:ext cx="6429494" cy="4293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There is currently no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universal, data-driven tool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for accurate temperature forecasting directly from environmental inputs.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5130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8191917" y="6215008"/>
            <a:ext cx="335280" cy="335280"/>
          </a:xfrm>
          <a:prstGeom prst="rect">
            <a:avLst/>
          </a:prstGeom>
        </p:spPr>
      </p:pic>
      <p:sp>
        <p:nvSpPr>
          <p:cNvPr id="5131" name="Text 8"/>
          <p:cNvSpPr/>
          <p:nvPr/>
        </p:nvSpPr>
        <p:spPr>
          <a:xfrm>
            <a:off x="-8191917" y="6717928"/>
            <a:ext cx="1764744" cy="220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Model Opacity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5132" name="Text 9"/>
          <p:cNvSpPr/>
          <p:nvPr/>
        </p:nvSpPr>
        <p:spPr>
          <a:xfrm>
            <a:off x="-8191917" y="7072496"/>
            <a:ext cx="6429494" cy="4293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Many existing climate prediction models suffer from a lack of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explainability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, limiting trust and actionable insights.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172" name="Text 10"/>
          <p:cNvSpPr/>
          <p:nvPr/>
        </p:nvSpPr>
        <p:spPr>
          <a:xfrm>
            <a:off x="16583520" y="1294905"/>
            <a:ext cx="6429494" cy="3652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"Which environmental factors most significantly </a:t>
            </a:r>
            <a:r>
              <a:rPr lang="en-US" sz="3800" b="1" dirty="0">
                <a:solidFill>
                  <a:srgbClr val="F44444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influence</a:t>
            </a:r>
            <a:r>
              <a:rPr lang="en-US" sz="380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 </a:t>
            </a:r>
            <a:r>
              <a:rPr lang="en-US" sz="38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the rise in average temperature, and how accurately can we </a:t>
            </a:r>
            <a:r>
              <a:rPr lang="en-US" sz="3800" b="1" dirty="0">
                <a:solidFill>
                  <a:srgbClr val="5E98F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predict</a:t>
            </a:r>
            <a:r>
              <a:rPr lang="en-US" sz="380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 </a:t>
            </a:r>
            <a:r>
              <a:rPr lang="en-US" sz="38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it using </a:t>
            </a:r>
            <a:r>
              <a:rPr lang="en-US" sz="3800" b="1" dirty="0">
                <a:solidFill>
                  <a:srgbClr val="1F7135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machine learning</a:t>
            </a:r>
            <a:r>
              <a:rPr lang="en-US" sz="38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?"</a:t>
            </a:r>
            <a:endParaRPr lang="en-US" sz="3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31743"/>
          </a:xfrm>
          <a:prstGeom prst="rect">
            <a:avLst/>
          </a:prstGeom>
        </p:spPr>
      </p:pic>
      <p:pic>
        <p:nvPicPr>
          <p:cNvPr id="6146" name="Picture 2" descr="Evening Nature Blur Background Wallpaper | WallpapersO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31743"/>
          </a:xfrm>
          <a:prstGeom prst="rect">
            <a:avLst/>
          </a:prstGeom>
          <a:solidFill>
            <a:schemeClr val="tx1">
              <a:alpha val="59000"/>
            </a:schemeClr>
          </a:solidFill>
        </p:spPr>
      </p:sp>
      <p:sp>
        <p:nvSpPr>
          <p:cNvPr id="4" name="Text 1"/>
          <p:cNvSpPr/>
          <p:nvPr/>
        </p:nvSpPr>
        <p:spPr>
          <a:xfrm>
            <a:off x="722114" y="567333"/>
            <a:ext cx="3529489" cy="441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Research Problem</a:t>
            </a:r>
            <a:endParaRPr lang="en-US" sz="2750" dirty="0">
              <a:solidFill>
                <a:schemeClr val="bg1"/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14" y="1360408"/>
            <a:ext cx="335280" cy="335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2114" y="1863328"/>
            <a:ext cx="1764744" cy="220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 Complexity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722114" y="2217896"/>
            <a:ext cx="6429494" cy="4293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</a:rPr>
              <a:t>Climate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</a:rPr>
              <a:t>data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is inherently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complex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,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nonlinear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, and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multi-variable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, making direct analysis challenging.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114" y="2982516"/>
            <a:ext cx="335280" cy="3352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2114" y="3485436"/>
            <a:ext cx="1768078" cy="220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Traditional Limitations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0" name="Text 5"/>
          <p:cNvSpPr/>
          <p:nvPr/>
        </p:nvSpPr>
        <p:spPr>
          <a:xfrm>
            <a:off x="722114" y="3840004"/>
            <a:ext cx="6429494" cy="4293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Manual temperature prediction methods are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inefficient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and often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prone to error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, struggling with vast datasets.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114" y="4604623"/>
            <a:ext cx="335280" cy="3352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2114" y="5107543"/>
            <a:ext cx="1764744" cy="220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Tooling Gap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722114" y="5462111"/>
            <a:ext cx="6429494" cy="4293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There is currently no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universal, data-driven tool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for accurate temperature forecasting directly from environmental inputs.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114" y="6226731"/>
            <a:ext cx="335280" cy="3352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2114" y="6729651"/>
            <a:ext cx="1764744" cy="2205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Model Opacity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6" name="Text 9"/>
          <p:cNvSpPr/>
          <p:nvPr/>
        </p:nvSpPr>
        <p:spPr>
          <a:xfrm>
            <a:off x="722114" y="7084219"/>
            <a:ext cx="6429494" cy="4293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Many existing climate prediction models suffer from a lack of </a:t>
            </a:r>
            <a:r>
              <a:rPr lang="en-US" sz="10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explainability</a:t>
            </a:r>
            <a:r>
              <a:rPr lang="en-US" sz="10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, limiting trust and actionable insights.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Text 10"/>
          <p:cNvSpPr/>
          <p:nvPr/>
        </p:nvSpPr>
        <p:spPr>
          <a:xfrm>
            <a:off x="7486412" y="1343620"/>
            <a:ext cx="6429494" cy="36525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"Which environmental factors most significantly </a:t>
            </a:r>
            <a:r>
              <a:rPr lang="en-US" sz="3800" b="1" dirty="0">
                <a:solidFill>
                  <a:srgbClr val="F44444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influence</a:t>
            </a:r>
            <a:r>
              <a:rPr lang="en-US" sz="380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 </a:t>
            </a:r>
            <a:r>
              <a:rPr lang="en-US" sz="38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the rise in average temperature, and how accurately can we </a:t>
            </a:r>
            <a:r>
              <a:rPr lang="en-US" sz="3800" b="1" dirty="0">
                <a:solidFill>
                  <a:srgbClr val="5E98F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predict</a:t>
            </a:r>
            <a:r>
              <a:rPr lang="en-US" sz="380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 </a:t>
            </a:r>
            <a:r>
              <a:rPr lang="en-US" sz="38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it using </a:t>
            </a:r>
            <a:r>
              <a:rPr lang="en-US" sz="3800" b="1" dirty="0">
                <a:solidFill>
                  <a:srgbClr val="1F7135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machine learning</a:t>
            </a:r>
            <a:r>
              <a:rPr lang="en-US" sz="38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?"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6184" name="Text 0"/>
          <p:cNvSpPr/>
          <p:nvPr/>
        </p:nvSpPr>
        <p:spPr>
          <a:xfrm>
            <a:off x="758309" y="10428089"/>
            <a:ext cx="4276130" cy="5345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Aim &amp; Objectives</a:t>
            </a:r>
            <a:endParaRPr lang="en-US" sz="3350" dirty="0"/>
          </a:p>
        </p:txBody>
      </p:sp>
      <p:sp>
        <p:nvSpPr>
          <p:cNvPr id="6185" name="Shape 1"/>
          <p:cNvSpPr/>
          <p:nvPr/>
        </p:nvSpPr>
        <p:spPr>
          <a:xfrm>
            <a:off x="758309" y="11206401"/>
            <a:ext cx="13113782" cy="1380173"/>
          </a:xfrm>
          <a:prstGeom prst="roundRect">
            <a:avLst>
              <a:gd name="adj" fmla="val 17660"/>
            </a:avLst>
          </a:prstGeom>
          <a:solidFill>
            <a:srgbClr val="BEDFF3">
              <a:alpha val="30000"/>
            </a:srgbClr>
          </a:solidFill>
        </p:spPr>
      </p:sp>
      <p:pic>
        <p:nvPicPr>
          <p:cNvPr id="6186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710" y="11435715"/>
            <a:ext cx="267176" cy="213717"/>
          </a:xfrm>
          <a:prstGeom prst="rect">
            <a:avLst/>
          </a:prstGeom>
        </p:spPr>
      </p:pic>
      <p:sp>
        <p:nvSpPr>
          <p:cNvPr id="6187" name="Text 2"/>
          <p:cNvSpPr/>
          <p:nvPr/>
        </p:nvSpPr>
        <p:spPr>
          <a:xfrm>
            <a:off x="1350288" y="11409402"/>
            <a:ext cx="2138005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Aim</a:t>
            </a:r>
            <a:endParaRPr lang="en-US" sz="1650" dirty="0"/>
          </a:p>
        </p:txBody>
      </p:sp>
      <p:sp>
        <p:nvSpPr>
          <p:cNvPr id="6188" name="Text 3"/>
          <p:cNvSpPr/>
          <p:nvPr/>
        </p:nvSpPr>
        <p:spPr>
          <a:xfrm>
            <a:off x="1350288" y="11839099"/>
            <a:ext cx="12359402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To develop a machine learning model for accurate temperature prediction based on climate indicators and identify the most influential environmental features contributing to global temperature change.</a:t>
            </a:r>
            <a:endParaRPr lang="en-US" sz="1250" dirty="0"/>
          </a:p>
        </p:txBody>
      </p:sp>
      <p:sp>
        <p:nvSpPr>
          <p:cNvPr id="6189" name="Text 4"/>
          <p:cNvSpPr/>
          <p:nvPr/>
        </p:nvSpPr>
        <p:spPr>
          <a:xfrm>
            <a:off x="758309" y="12769334"/>
            <a:ext cx="13113782" cy="260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Our key objectives are:</a:t>
            </a:r>
            <a:endParaRPr lang="en-US" sz="1250" dirty="0"/>
          </a:p>
        </p:txBody>
      </p:sp>
      <p:pic>
        <p:nvPicPr>
          <p:cNvPr id="6190" name="Image 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309" y="13432989"/>
            <a:ext cx="3156585" cy="91440"/>
          </a:xfrm>
          <a:prstGeom prst="rect">
            <a:avLst/>
          </a:prstGeom>
        </p:spPr>
      </p:pic>
      <p:pic>
        <p:nvPicPr>
          <p:cNvPr id="6191" name="Image 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2881" y="13212128"/>
            <a:ext cx="487442" cy="487442"/>
          </a:xfrm>
          <a:prstGeom prst="rect">
            <a:avLst/>
          </a:prstGeom>
        </p:spPr>
      </p:pic>
      <p:pic>
        <p:nvPicPr>
          <p:cNvPr id="6192" name="Image 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39089" y="13333929"/>
            <a:ext cx="194905" cy="243721"/>
          </a:xfrm>
          <a:prstGeom prst="rect">
            <a:avLst/>
          </a:prstGeom>
        </p:spPr>
      </p:pic>
      <p:sp>
        <p:nvSpPr>
          <p:cNvPr id="6193" name="Text 5"/>
          <p:cNvSpPr/>
          <p:nvPr/>
        </p:nvSpPr>
        <p:spPr>
          <a:xfrm>
            <a:off x="943570" y="13862090"/>
            <a:ext cx="2575322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 Exploration &amp; Loading</a:t>
            </a:r>
            <a:endParaRPr lang="en-US" sz="1650" dirty="0"/>
          </a:p>
        </p:txBody>
      </p:sp>
      <p:sp>
        <p:nvSpPr>
          <p:cNvPr id="6194" name="Text 6"/>
          <p:cNvSpPr/>
          <p:nvPr/>
        </p:nvSpPr>
        <p:spPr>
          <a:xfrm>
            <a:off x="943570" y="14226778"/>
            <a:ext cx="2786063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Load and explore a comprehensive, real-world climate dataset to understand its structure and content.</a:t>
            </a:r>
            <a:endParaRPr lang="en-US" sz="1250" dirty="0"/>
          </a:p>
        </p:txBody>
      </p:sp>
      <p:pic>
        <p:nvPicPr>
          <p:cNvPr id="619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7295" y="13432989"/>
            <a:ext cx="3156704" cy="91440"/>
          </a:xfrm>
          <a:prstGeom prst="rect">
            <a:avLst/>
          </a:prstGeom>
        </p:spPr>
      </p:pic>
      <p:pic>
        <p:nvPicPr>
          <p:cNvPr id="6196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1867" y="13212128"/>
            <a:ext cx="487442" cy="487442"/>
          </a:xfrm>
          <a:prstGeom prst="rect">
            <a:avLst/>
          </a:prstGeom>
        </p:spPr>
      </p:pic>
      <p:pic>
        <p:nvPicPr>
          <p:cNvPr id="6197" name="Image 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8076" y="13333929"/>
            <a:ext cx="194905" cy="243721"/>
          </a:xfrm>
          <a:prstGeom prst="rect">
            <a:avLst/>
          </a:prstGeom>
        </p:spPr>
      </p:pic>
      <p:sp>
        <p:nvSpPr>
          <p:cNvPr id="6198" name="Text 7"/>
          <p:cNvSpPr/>
          <p:nvPr/>
        </p:nvSpPr>
        <p:spPr>
          <a:xfrm>
            <a:off x="4262557" y="13862090"/>
            <a:ext cx="2138005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 Preprocessing</a:t>
            </a:r>
            <a:endParaRPr lang="en-US" sz="1650" dirty="0"/>
          </a:p>
        </p:txBody>
      </p:sp>
      <p:sp>
        <p:nvSpPr>
          <p:cNvPr id="6199" name="Text 8"/>
          <p:cNvSpPr/>
          <p:nvPr/>
        </p:nvSpPr>
        <p:spPr>
          <a:xfrm>
            <a:off x="4262557" y="14226778"/>
            <a:ext cx="2786182" cy="78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Preprocess data thoroughly, including effective handling of missing values and outliers.</a:t>
            </a:r>
            <a:endParaRPr lang="en-US" sz="1250" dirty="0"/>
          </a:p>
        </p:txBody>
      </p:sp>
      <p:pic>
        <p:nvPicPr>
          <p:cNvPr id="620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6401" y="13432989"/>
            <a:ext cx="3156585" cy="91440"/>
          </a:xfrm>
          <a:prstGeom prst="rect">
            <a:avLst/>
          </a:prstGeom>
        </p:spPr>
      </p:pic>
      <p:pic>
        <p:nvPicPr>
          <p:cNvPr id="620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0972" y="13212128"/>
            <a:ext cx="487442" cy="487442"/>
          </a:xfrm>
          <a:prstGeom prst="rect">
            <a:avLst/>
          </a:prstGeom>
        </p:spPr>
      </p:pic>
      <p:pic>
        <p:nvPicPr>
          <p:cNvPr id="620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7181" y="13333929"/>
            <a:ext cx="194905" cy="243721"/>
          </a:xfrm>
          <a:prstGeom prst="rect">
            <a:avLst/>
          </a:prstGeom>
        </p:spPr>
      </p:pic>
      <p:sp>
        <p:nvSpPr>
          <p:cNvPr id="6203" name="Text 9"/>
          <p:cNvSpPr/>
          <p:nvPr/>
        </p:nvSpPr>
        <p:spPr>
          <a:xfrm>
            <a:off x="7581662" y="13862090"/>
            <a:ext cx="2138005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Selection</a:t>
            </a:r>
            <a:endParaRPr lang="en-US" sz="1650" dirty="0"/>
          </a:p>
        </p:txBody>
      </p:sp>
      <p:sp>
        <p:nvSpPr>
          <p:cNvPr id="6204" name="Text 10"/>
          <p:cNvSpPr/>
          <p:nvPr/>
        </p:nvSpPr>
        <p:spPr>
          <a:xfrm>
            <a:off x="7581662" y="14226778"/>
            <a:ext cx="2786063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Select the most relevant environmental features that significantly impact global temperature fluctuations.</a:t>
            </a:r>
            <a:endParaRPr lang="en-US" sz="1250" dirty="0"/>
          </a:p>
        </p:txBody>
      </p:sp>
      <p:pic>
        <p:nvPicPr>
          <p:cNvPr id="620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15387" y="13432989"/>
            <a:ext cx="3156704" cy="91440"/>
          </a:xfrm>
          <a:prstGeom prst="rect">
            <a:avLst/>
          </a:prstGeom>
        </p:spPr>
      </p:pic>
      <p:pic>
        <p:nvPicPr>
          <p:cNvPr id="6206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49958" y="13212128"/>
            <a:ext cx="487442" cy="487442"/>
          </a:xfrm>
          <a:prstGeom prst="rect">
            <a:avLst/>
          </a:prstGeom>
        </p:spPr>
      </p:pic>
      <p:pic>
        <p:nvPicPr>
          <p:cNvPr id="6207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96167" y="13333929"/>
            <a:ext cx="194905" cy="243721"/>
          </a:xfrm>
          <a:prstGeom prst="rect">
            <a:avLst/>
          </a:prstGeom>
        </p:spPr>
      </p:pic>
      <p:sp>
        <p:nvSpPr>
          <p:cNvPr id="6208" name="Text 11"/>
          <p:cNvSpPr/>
          <p:nvPr/>
        </p:nvSpPr>
        <p:spPr>
          <a:xfrm>
            <a:off x="10900648" y="13862090"/>
            <a:ext cx="2138005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Model Training</a:t>
            </a:r>
            <a:endParaRPr lang="en-US" sz="1650" dirty="0"/>
          </a:p>
        </p:txBody>
      </p:sp>
      <p:sp>
        <p:nvSpPr>
          <p:cNvPr id="6209" name="Text 12"/>
          <p:cNvSpPr/>
          <p:nvPr/>
        </p:nvSpPr>
        <p:spPr>
          <a:xfrm>
            <a:off x="10900648" y="14226778"/>
            <a:ext cx="2786182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Train a robust predictive model using </a:t>
            </a:r>
            <a:r>
              <a:rPr lang="en-US" sz="1250" dirty="0" err="1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theMulti</a:t>
            </a: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-model Regression System  regression algorithm for accurate temperature forecasting.</a:t>
            </a:r>
            <a:endParaRPr lang="en-US" sz="1250" dirty="0"/>
          </a:p>
        </p:txBody>
      </p:sp>
      <p:pic>
        <p:nvPicPr>
          <p:cNvPr id="6210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8309" y="15835432"/>
            <a:ext cx="6475690" cy="91440"/>
          </a:xfrm>
          <a:prstGeom prst="rect">
            <a:avLst/>
          </a:prstGeom>
        </p:spPr>
      </p:pic>
      <p:pic>
        <p:nvPicPr>
          <p:cNvPr id="6211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2374" y="15614571"/>
            <a:ext cx="487442" cy="487442"/>
          </a:xfrm>
          <a:prstGeom prst="rect">
            <a:avLst/>
          </a:prstGeom>
        </p:spPr>
      </p:pic>
      <p:pic>
        <p:nvPicPr>
          <p:cNvPr id="6212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98583" y="15736372"/>
            <a:ext cx="194905" cy="243721"/>
          </a:xfrm>
          <a:prstGeom prst="rect">
            <a:avLst/>
          </a:prstGeom>
        </p:spPr>
      </p:pic>
      <p:sp>
        <p:nvSpPr>
          <p:cNvPr id="6213" name="Text 13"/>
          <p:cNvSpPr/>
          <p:nvPr/>
        </p:nvSpPr>
        <p:spPr>
          <a:xfrm>
            <a:off x="943570" y="16264533"/>
            <a:ext cx="2704862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Importance Analysis</a:t>
            </a:r>
            <a:endParaRPr lang="en-US" sz="1650" dirty="0"/>
          </a:p>
        </p:txBody>
      </p:sp>
      <p:sp>
        <p:nvSpPr>
          <p:cNvPr id="6214" name="Text 14"/>
          <p:cNvSpPr/>
          <p:nvPr/>
        </p:nvSpPr>
        <p:spPr>
          <a:xfrm>
            <a:off x="943570" y="16629221"/>
            <a:ext cx="6105168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Analyze and visualize the key feature importance for better interpretability and understanding of the model's predictions.</a:t>
            </a:r>
            <a:endParaRPr lang="en-US" sz="1250" dirty="0"/>
          </a:p>
        </p:txBody>
      </p:sp>
      <p:pic>
        <p:nvPicPr>
          <p:cNvPr id="6215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96401" y="15835432"/>
            <a:ext cx="6475690" cy="91440"/>
          </a:xfrm>
          <a:prstGeom prst="rect">
            <a:avLst/>
          </a:prstGeom>
        </p:spPr>
      </p:pic>
      <p:pic>
        <p:nvPicPr>
          <p:cNvPr id="6216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90465" y="15614571"/>
            <a:ext cx="487442" cy="487442"/>
          </a:xfrm>
          <a:prstGeom prst="rect">
            <a:avLst/>
          </a:prstGeom>
        </p:spPr>
      </p:pic>
      <p:pic>
        <p:nvPicPr>
          <p:cNvPr id="6217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36674" y="15736372"/>
            <a:ext cx="194905" cy="243721"/>
          </a:xfrm>
          <a:prstGeom prst="rect">
            <a:avLst/>
          </a:prstGeom>
        </p:spPr>
      </p:pic>
      <p:sp>
        <p:nvSpPr>
          <p:cNvPr id="6218" name="Text 15"/>
          <p:cNvSpPr/>
          <p:nvPr/>
        </p:nvSpPr>
        <p:spPr>
          <a:xfrm>
            <a:off x="7581662" y="16264533"/>
            <a:ext cx="2138005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Actionable Insights</a:t>
            </a:r>
            <a:endParaRPr lang="en-US" sz="1650" dirty="0"/>
          </a:p>
        </p:txBody>
      </p:sp>
      <p:sp>
        <p:nvSpPr>
          <p:cNvPr id="6219" name="Text 16"/>
          <p:cNvSpPr/>
          <p:nvPr/>
        </p:nvSpPr>
        <p:spPr>
          <a:xfrm>
            <a:off x="7581662" y="16629221"/>
            <a:ext cx="6105168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Generate actionable insights from the model's findings to understand and address climate impact patterns effectively.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0" descr="Sunset Yellow sk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3119"/>
            <a:ext cx="14630401" cy="827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758309" y="661511"/>
            <a:ext cx="4276130" cy="5345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Aim &amp; Objectives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758309" y="1439823"/>
            <a:ext cx="13113782" cy="1380173"/>
          </a:xfrm>
          <a:prstGeom prst="roundRect">
            <a:avLst>
              <a:gd name="adj" fmla="val 17660"/>
            </a:avLst>
          </a:prstGeom>
          <a:solidFill>
            <a:srgbClr val="BEDFF3">
              <a:alpha val="30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10" y="1669137"/>
            <a:ext cx="267176" cy="2137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0288" y="1642824"/>
            <a:ext cx="2138005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Aim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350288" y="2072521"/>
            <a:ext cx="12359402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To develop a machine learning model for accurate temperature prediction based on climate indicators and identify the most influential environmental features contributing to global temperature change.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58309" y="3002756"/>
            <a:ext cx="13113782" cy="260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Our key objectives are: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666411"/>
            <a:ext cx="3156585" cy="9144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881" y="3445550"/>
            <a:ext cx="487442" cy="487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089" y="3567351"/>
            <a:ext cx="194905" cy="2437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3570" y="4095512"/>
            <a:ext cx="2575322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 Exploration &amp; Loading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943570" y="4460200"/>
            <a:ext cx="2786063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Load and explore a comprehensive, real-world climate dataset to understand its structure and content.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295" y="3666411"/>
            <a:ext cx="3156704" cy="9144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867" y="3445550"/>
            <a:ext cx="487442" cy="487442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8076" y="3567351"/>
            <a:ext cx="194905" cy="243721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262557" y="4095512"/>
            <a:ext cx="2138005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 Preprocessing</a:t>
            </a:r>
            <a:endParaRPr lang="en-US" sz="1650" dirty="0"/>
          </a:p>
        </p:txBody>
      </p:sp>
      <p:sp>
        <p:nvSpPr>
          <p:cNvPr id="17" name="Text 8"/>
          <p:cNvSpPr/>
          <p:nvPr/>
        </p:nvSpPr>
        <p:spPr>
          <a:xfrm>
            <a:off x="4262557" y="4460200"/>
            <a:ext cx="2786182" cy="78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Preprocess data thoroughly, including effective handling of missing values and outliers.</a:t>
            </a:r>
            <a:endParaRPr lang="en-US" sz="12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401" y="3666411"/>
            <a:ext cx="3156585" cy="91440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0972" y="3445550"/>
            <a:ext cx="487442" cy="487442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7181" y="3567351"/>
            <a:ext cx="194905" cy="243721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7581662" y="4095512"/>
            <a:ext cx="2138005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Selection</a:t>
            </a:r>
            <a:endParaRPr lang="en-US" sz="1650" dirty="0"/>
          </a:p>
        </p:txBody>
      </p:sp>
      <p:sp>
        <p:nvSpPr>
          <p:cNvPr id="22" name="Text 10"/>
          <p:cNvSpPr/>
          <p:nvPr/>
        </p:nvSpPr>
        <p:spPr>
          <a:xfrm>
            <a:off x="7581662" y="4460200"/>
            <a:ext cx="2786063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Select the most relevant environmental features that significantly impact global temperature fluctuations.</a:t>
            </a:r>
            <a:endParaRPr lang="en-US" sz="125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387" y="3666411"/>
            <a:ext cx="3156704" cy="91440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9958" y="3445550"/>
            <a:ext cx="487442" cy="487442"/>
          </a:xfrm>
          <a:prstGeom prst="rect">
            <a:avLst/>
          </a:prstGeom>
        </p:spPr>
      </p:pic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6167" y="3567351"/>
            <a:ext cx="194905" cy="243721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10900648" y="4095512"/>
            <a:ext cx="2138005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Model Training</a:t>
            </a:r>
            <a:endParaRPr lang="en-US" sz="1650" dirty="0"/>
          </a:p>
        </p:txBody>
      </p:sp>
      <p:sp>
        <p:nvSpPr>
          <p:cNvPr id="27" name="Text 12"/>
          <p:cNvSpPr/>
          <p:nvPr/>
        </p:nvSpPr>
        <p:spPr>
          <a:xfrm>
            <a:off x="10900648" y="4460200"/>
            <a:ext cx="2786182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Train a robust predictive model using the Multi-model Regression System algorithm for accurate temperature forecasting.</a:t>
            </a:r>
            <a:endParaRPr lang="en-US" sz="1250" dirty="0"/>
          </a:p>
        </p:txBody>
      </p:sp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309" y="6068854"/>
            <a:ext cx="6475690" cy="91440"/>
          </a:xfrm>
          <a:prstGeom prst="rect">
            <a:avLst/>
          </a:prstGeom>
        </p:spPr>
      </p:pic>
      <p:pic>
        <p:nvPicPr>
          <p:cNvPr id="29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374" y="5847993"/>
            <a:ext cx="487442" cy="487442"/>
          </a:xfrm>
          <a:prstGeom prst="rect">
            <a:avLst/>
          </a:prstGeom>
        </p:spPr>
      </p:pic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8583" y="5969794"/>
            <a:ext cx="194905" cy="243721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943570" y="6497955"/>
            <a:ext cx="2704862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Importance Analysis</a:t>
            </a:r>
            <a:endParaRPr lang="en-US" sz="1650" dirty="0"/>
          </a:p>
        </p:txBody>
      </p:sp>
      <p:sp>
        <p:nvSpPr>
          <p:cNvPr id="32" name="Text 14"/>
          <p:cNvSpPr/>
          <p:nvPr/>
        </p:nvSpPr>
        <p:spPr>
          <a:xfrm>
            <a:off x="943570" y="6862643"/>
            <a:ext cx="6105168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Analyze and visualize the key feature importance for better interpretability and understanding of the model's predictions.</a:t>
            </a:r>
            <a:endParaRPr lang="en-US" sz="1250" dirty="0"/>
          </a:p>
        </p:txBody>
      </p:sp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6401" y="6068854"/>
            <a:ext cx="6475690" cy="9144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0465" y="5847993"/>
            <a:ext cx="487442" cy="487442"/>
          </a:xfrm>
          <a:prstGeom prst="rect">
            <a:avLst/>
          </a:prstGeom>
        </p:spPr>
      </p:pic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6674" y="5969794"/>
            <a:ext cx="194905" cy="243721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7581662" y="6497955"/>
            <a:ext cx="2138005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Actionable Insights</a:t>
            </a:r>
            <a:endParaRPr lang="en-US" sz="1650" dirty="0"/>
          </a:p>
        </p:txBody>
      </p:sp>
      <p:sp>
        <p:nvSpPr>
          <p:cNvPr id="37" name="Text 16"/>
          <p:cNvSpPr/>
          <p:nvPr/>
        </p:nvSpPr>
        <p:spPr>
          <a:xfrm>
            <a:off x="7581662" y="6862643"/>
            <a:ext cx="6105168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Generate actionable insights from the model's findings to understand and address climate impact patterns effectively.</a:t>
            </a:r>
            <a:endParaRPr lang="en-US" sz="1250" dirty="0"/>
          </a:p>
        </p:txBody>
      </p:sp>
      <p:sp>
        <p:nvSpPr>
          <p:cNvPr id="39" name="Text 0"/>
          <p:cNvSpPr/>
          <p:nvPr/>
        </p:nvSpPr>
        <p:spPr>
          <a:xfrm>
            <a:off x="-19209425" y="1885397"/>
            <a:ext cx="3335417" cy="21817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Dataset Overview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0" name="Text 1"/>
          <p:cNvSpPr/>
          <p:nvPr/>
        </p:nvSpPr>
        <p:spPr>
          <a:xfrm>
            <a:off x="-19209425" y="2049661"/>
            <a:ext cx="13265468" cy="10619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To accurately predict temperature, we utilized a comprehensive dataset: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41" name="Shape 3"/>
          <p:cNvSpPr/>
          <p:nvPr/>
        </p:nvSpPr>
        <p:spPr>
          <a:xfrm>
            <a:off x="-19224665" y="4724313"/>
            <a:ext cx="60960" cy="6955424"/>
          </a:xfrm>
          <a:prstGeom prst="roundRect">
            <a:avLst>
              <a:gd name="adj" fmla="val 311878"/>
            </a:avLst>
          </a:prstGeom>
          <a:solidFill>
            <a:srgbClr val="5E98F1"/>
          </a:solidFill>
        </p:spPr>
      </p:sp>
      <p:sp>
        <p:nvSpPr>
          <p:cNvPr id="42" name="Text 4"/>
          <p:cNvSpPr/>
          <p:nvPr/>
        </p:nvSpPr>
        <p:spPr>
          <a:xfrm>
            <a:off x="-19021782" y="2548556"/>
            <a:ext cx="1667708" cy="1091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Source &amp; Type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3" name="Text 5"/>
          <p:cNvSpPr/>
          <p:nvPr/>
        </p:nvSpPr>
        <p:spPr>
          <a:xfrm>
            <a:off x="-19021782" y="2821424"/>
            <a:ext cx="6239828" cy="10619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Kaggle:</a:t>
            </a: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Climate Change Dataset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44" name="Text 6"/>
          <p:cNvSpPr/>
          <p:nvPr/>
        </p:nvSpPr>
        <p:spPr>
          <a:xfrm>
            <a:off x="-19021782" y="3100268"/>
            <a:ext cx="6239828" cy="10619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Type:</a:t>
            </a: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Time-series &amp; cross-sectional environmental indicators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45" name="Text 13"/>
          <p:cNvSpPr/>
          <p:nvPr/>
        </p:nvSpPr>
        <p:spPr>
          <a:xfrm>
            <a:off x="-19209425" y="3925514"/>
            <a:ext cx="2002631" cy="1091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Key Features for Prediction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9209425" y="4091049"/>
            <a:ext cx="63341" cy="331535"/>
          </a:xfrm>
          <a:prstGeom prst="rect">
            <a:avLst/>
          </a:prstGeom>
        </p:spPr>
      </p:pic>
      <p:sp>
        <p:nvSpPr>
          <p:cNvPr id="47" name="Text 14"/>
          <p:cNvSpPr/>
          <p:nvPr/>
        </p:nvSpPr>
        <p:spPr>
          <a:xfrm>
            <a:off x="-19019401" y="4324016"/>
            <a:ext cx="1667708" cy="1091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CO₂ Emissions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8" name="Text 15"/>
          <p:cNvSpPr/>
          <p:nvPr/>
        </p:nvSpPr>
        <p:spPr>
          <a:xfrm>
            <a:off x="-19019401" y="4596884"/>
            <a:ext cx="6363533" cy="10619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Tons/Capita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9209425" y="4831856"/>
            <a:ext cx="63341" cy="331535"/>
          </a:xfrm>
          <a:prstGeom prst="rect">
            <a:avLst/>
          </a:prstGeom>
        </p:spPr>
      </p:pic>
      <p:sp>
        <p:nvSpPr>
          <p:cNvPr id="50" name="Text 18"/>
          <p:cNvSpPr/>
          <p:nvPr/>
        </p:nvSpPr>
        <p:spPr>
          <a:xfrm>
            <a:off x="-19019401" y="5064823"/>
            <a:ext cx="1667708" cy="1091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Rainfall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1" name="Text 19"/>
          <p:cNvSpPr/>
          <p:nvPr/>
        </p:nvSpPr>
        <p:spPr>
          <a:xfrm>
            <a:off x="-19019401" y="5337691"/>
            <a:ext cx="6363533" cy="10619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Millimeters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9209425" y="5572663"/>
            <a:ext cx="63341" cy="331535"/>
          </a:xfrm>
          <a:prstGeom prst="rect">
            <a:avLst/>
          </a:prstGeom>
        </p:spPr>
      </p:pic>
      <p:sp>
        <p:nvSpPr>
          <p:cNvPr id="53" name="Text 22"/>
          <p:cNvSpPr/>
          <p:nvPr/>
        </p:nvSpPr>
        <p:spPr>
          <a:xfrm>
            <a:off x="-19019401" y="5805630"/>
            <a:ext cx="1667708" cy="1091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Renewable Energy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4" name="Text 23"/>
          <p:cNvSpPr/>
          <p:nvPr/>
        </p:nvSpPr>
        <p:spPr>
          <a:xfrm>
            <a:off x="-19019401" y="6078498"/>
            <a:ext cx="6363533" cy="10619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Percentage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9209425" y="6313469"/>
            <a:ext cx="63341" cy="331535"/>
          </a:xfrm>
          <a:prstGeom prst="rect">
            <a:avLst/>
          </a:prstGeom>
        </p:spPr>
      </p:pic>
      <p:sp>
        <p:nvSpPr>
          <p:cNvPr id="56" name="Text 26"/>
          <p:cNvSpPr/>
          <p:nvPr/>
        </p:nvSpPr>
        <p:spPr>
          <a:xfrm>
            <a:off x="-19019401" y="6546437"/>
            <a:ext cx="1667708" cy="10912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Forest Area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7" name="Text 27"/>
          <p:cNvSpPr/>
          <p:nvPr/>
        </p:nvSpPr>
        <p:spPr>
          <a:xfrm>
            <a:off x="-19019401" y="6819304"/>
            <a:ext cx="6363533" cy="10619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Percentage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58" name="Shape 8"/>
          <p:cNvSpPr/>
          <p:nvPr/>
        </p:nvSpPr>
        <p:spPr>
          <a:xfrm>
            <a:off x="19639240" y="1975366"/>
            <a:ext cx="60960" cy="1328857"/>
          </a:xfrm>
          <a:prstGeom prst="roundRect">
            <a:avLst>
              <a:gd name="adj" fmla="val 311878"/>
            </a:avLst>
          </a:prstGeom>
          <a:solidFill>
            <a:srgbClr val="5CC97B"/>
          </a:solidFill>
        </p:spPr>
      </p:sp>
      <p:sp>
        <p:nvSpPr>
          <p:cNvPr id="59" name="Text 9"/>
          <p:cNvSpPr/>
          <p:nvPr/>
        </p:nvSpPr>
        <p:spPr>
          <a:xfrm>
            <a:off x="19842123" y="2117288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Scope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0" name="Text 10"/>
          <p:cNvSpPr/>
          <p:nvPr/>
        </p:nvSpPr>
        <p:spPr>
          <a:xfrm>
            <a:off x="19842123" y="2401729"/>
            <a:ext cx="6239828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Records:</a:t>
            </a: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1,000+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1" name="Text 11"/>
          <p:cNvSpPr/>
          <p:nvPr/>
        </p:nvSpPr>
        <p:spPr>
          <a:xfrm>
            <a:off x="19842123" y="2680573"/>
            <a:ext cx="6239828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Features:</a:t>
            </a: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8 key indicators + target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2" name="Text 12"/>
          <p:cNvSpPr/>
          <p:nvPr/>
        </p:nvSpPr>
        <p:spPr>
          <a:xfrm>
            <a:off x="19842123" y="2959418"/>
            <a:ext cx="6239828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Time Range:</a:t>
            </a: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1960–2020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70316" y="3960019"/>
            <a:ext cx="63341" cy="63341"/>
          </a:xfrm>
          <a:prstGeom prst="rect">
            <a:avLst/>
          </a:prstGeom>
        </p:spPr>
      </p:pic>
      <p:sp>
        <p:nvSpPr>
          <p:cNvPr id="64" name="Text 16"/>
          <p:cNvSpPr/>
          <p:nvPr/>
        </p:nvSpPr>
        <p:spPr>
          <a:xfrm>
            <a:off x="19860339" y="3892748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Sea Level Rise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5" name="Text 17"/>
          <p:cNvSpPr/>
          <p:nvPr/>
        </p:nvSpPr>
        <p:spPr>
          <a:xfrm>
            <a:off x="19860339" y="4177189"/>
            <a:ext cx="6363533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Millimeters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66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70316" y="4700826"/>
            <a:ext cx="63341" cy="63341"/>
          </a:xfrm>
          <a:prstGeom prst="rect">
            <a:avLst/>
          </a:prstGeom>
        </p:spPr>
      </p:pic>
      <p:sp>
        <p:nvSpPr>
          <p:cNvPr id="67" name="Text 20"/>
          <p:cNvSpPr/>
          <p:nvPr/>
        </p:nvSpPr>
        <p:spPr>
          <a:xfrm>
            <a:off x="19860339" y="4633555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Population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8" name="Text 21"/>
          <p:cNvSpPr/>
          <p:nvPr/>
        </p:nvSpPr>
        <p:spPr>
          <a:xfrm>
            <a:off x="19860339" y="4917996"/>
            <a:ext cx="6363533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Global count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69" name="Image 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70316" y="5441633"/>
            <a:ext cx="63341" cy="63341"/>
          </a:xfrm>
          <a:prstGeom prst="rect">
            <a:avLst/>
          </a:prstGeom>
        </p:spPr>
      </p:pic>
      <p:sp>
        <p:nvSpPr>
          <p:cNvPr id="70" name="Text 24"/>
          <p:cNvSpPr/>
          <p:nvPr/>
        </p:nvSpPr>
        <p:spPr>
          <a:xfrm>
            <a:off x="19860339" y="5374362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Extreme Weather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1" name="Text 25"/>
          <p:cNvSpPr/>
          <p:nvPr/>
        </p:nvSpPr>
        <p:spPr>
          <a:xfrm>
            <a:off x="19860339" y="5658803"/>
            <a:ext cx="6363533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Event frequency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Dark Blue Sk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399" cy="8272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/>
          <p:cNvSpPr/>
          <p:nvPr/>
        </p:nvSpPr>
        <p:spPr>
          <a:xfrm>
            <a:off x="682466" y="1023104"/>
            <a:ext cx="3335417" cy="4168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Dataset Overview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82466" y="1629966"/>
            <a:ext cx="13265468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To accurately predict temperature, we utilized a comprehensive dataset: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82466" y="1975366"/>
            <a:ext cx="6569393" cy="1328857"/>
          </a:xfrm>
          <a:prstGeom prst="roundRect">
            <a:avLst>
              <a:gd name="adj" fmla="val 5505"/>
            </a:avLst>
          </a:prstGeom>
          <a:noFill/>
          <a:ln w="15240">
            <a:solidFill>
              <a:srgbClr val="5E98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226" y="1975366"/>
            <a:ext cx="60960" cy="1328857"/>
          </a:xfrm>
          <a:prstGeom prst="roundRect">
            <a:avLst>
              <a:gd name="adj" fmla="val 311878"/>
            </a:avLst>
          </a:prstGeom>
          <a:solidFill>
            <a:srgbClr val="5E98F1"/>
          </a:solidFill>
        </p:spPr>
      </p:sp>
      <p:sp>
        <p:nvSpPr>
          <p:cNvPr id="7" name="Text 4"/>
          <p:cNvSpPr/>
          <p:nvPr/>
        </p:nvSpPr>
        <p:spPr>
          <a:xfrm>
            <a:off x="870109" y="2117288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Source &amp; Type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70109" y="2401729"/>
            <a:ext cx="6239828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Kaggle:</a:t>
            </a: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Climate Change Dataset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70109" y="2680573"/>
            <a:ext cx="6239828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Type:</a:t>
            </a: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Time-series &amp; cross-sectional environmental indicators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78541" y="1975366"/>
            <a:ext cx="6569393" cy="1328857"/>
          </a:xfrm>
          <a:prstGeom prst="roundRect">
            <a:avLst>
              <a:gd name="adj" fmla="val 5505"/>
            </a:avLst>
          </a:prstGeom>
          <a:noFill/>
          <a:ln w="15240">
            <a:solidFill>
              <a:srgbClr val="5CC97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3301" y="1975366"/>
            <a:ext cx="60960" cy="1328857"/>
          </a:xfrm>
          <a:prstGeom prst="roundRect">
            <a:avLst>
              <a:gd name="adj" fmla="val 311878"/>
            </a:avLst>
          </a:prstGeom>
          <a:solidFill>
            <a:srgbClr val="5CC97B"/>
          </a:solidFill>
        </p:spPr>
      </p:sp>
      <p:sp>
        <p:nvSpPr>
          <p:cNvPr id="12" name="Text 9"/>
          <p:cNvSpPr/>
          <p:nvPr/>
        </p:nvSpPr>
        <p:spPr>
          <a:xfrm>
            <a:off x="7566184" y="2117288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Scope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66184" y="2401729"/>
            <a:ext cx="6239828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Records:</a:t>
            </a: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1,000+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66184" y="2680573"/>
            <a:ext cx="6239828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Features:</a:t>
            </a: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7 key indicators + target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7566184" y="2959418"/>
            <a:ext cx="6239828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Time Range:</a:t>
            </a: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1960–2020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2466" y="3494246"/>
            <a:ext cx="2002631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Key Features for Prediction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" y="3960019"/>
            <a:ext cx="63341" cy="6334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72490" y="3892748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CO₂ Emissions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872490" y="4177189"/>
            <a:ext cx="6363533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Tons/Capita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377" y="3960019"/>
            <a:ext cx="63341" cy="6334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584400" y="3892748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Sea Level Rise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2" name="Text 17"/>
          <p:cNvSpPr/>
          <p:nvPr/>
        </p:nvSpPr>
        <p:spPr>
          <a:xfrm>
            <a:off x="7584400" y="4177189"/>
            <a:ext cx="6363533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Millimeters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" y="4700826"/>
            <a:ext cx="63341" cy="6334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72490" y="4633555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Rainfall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5" name="Text 19"/>
          <p:cNvSpPr/>
          <p:nvPr/>
        </p:nvSpPr>
        <p:spPr>
          <a:xfrm>
            <a:off x="872490" y="4917996"/>
            <a:ext cx="6363533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Millimeters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377" y="4700826"/>
            <a:ext cx="63341" cy="6334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84400" y="4633555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Population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8" name="Text 21"/>
          <p:cNvSpPr/>
          <p:nvPr/>
        </p:nvSpPr>
        <p:spPr>
          <a:xfrm>
            <a:off x="7584400" y="4917996"/>
            <a:ext cx="6363533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Global count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" y="5441633"/>
            <a:ext cx="63341" cy="6334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72490" y="5374362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Renewable Energy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1" name="Text 23"/>
          <p:cNvSpPr/>
          <p:nvPr/>
        </p:nvSpPr>
        <p:spPr>
          <a:xfrm>
            <a:off x="872490" y="5658803"/>
            <a:ext cx="6363533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Percentage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377" y="5441633"/>
            <a:ext cx="63341" cy="63341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584400" y="5374362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Extreme Weather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4" name="Text 25"/>
          <p:cNvSpPr/>
          <p:nvPr/>
        </p:nvSpPr>
        <p:spPr>
          <a:xfrm>
            <a:off x="7584400" y="5658803"/>
            <a:ext cx="6363533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Event frequency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6" y="6182439"/>
            <a:ext cx="63341" cy="6334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72490" y="6115169"/>
            <a:ext cx="1667708" cy="2084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Forest Area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7" name="Text 27"/>
          <p:cNvSpPr/>
          <p:nvPr/>
        </p:nvSpPr>
        <p:spPr>
          <a:xfrm>
            <a:off x="872490" y="6399609"/>
            <a:ext cx="6363533" cy="2028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Percentage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41" name="Text 0"/>
          <p:cNvSpPr/>
          <p:nvPr/>
        </p:nvSpPr>
        <p:spPr>
          <a:xfrm>
            <a:off x="653058" y="10281285"/>
            <a:ext cx="3191708" cy="3989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 Preprocessing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42" name="Text 1"/>
          <p:cNvSpPr/>
          <p:nvPr/>
        </p:nvSpPr>
        <p:spPr>
          <a:xfrm>
            <a:off x="653058" y="10862191"/>
            <a:ext cx="13324284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Transforming raw climate data into a clean, model-ready format.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43" name="Shape 2"/>
          <p:cNvSpPr/>
          <p:nvPr/>
        </p:nvSpPr>
        <p:spPr>
          <a:xfrm>
            <a:off x="653058" y="11192709"/>
            <a:ext cx="6601539" cy="739140"/>
          </a:xfrm>
          <a:prstGeom prst="roundRect">
            <a:avLst>
              <a:gd name="adj" fmla="val 9897"/>
            </a:avLst>
          </a:prstGeom>
          <a:noFill/>
          <a:ln w="15240">
            <a:solidFill>
              <a:srgbClr val="BACFDD"/>
            </a:solidFill>
            <a:prstDash val="solid"/>
          </a:ln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18" y="11192709"/>
            <a:ext cx="60960" cy="739140"/>
          </a:xfrm>
          <a:prstGeom prst="rect">
            <a:avLst/>
          </a:prstGeom>
        </p:spPr>
      </p:pic>
      <p:sp>
        <p:nvSpPr>
          <p:cNvPr id="45" name="Text 3"/>
          <p:cNvSpPr/>
          <p:nvPr/>
        </p:nvSpPr>
        <p:spPr>
          <a:xfrm>
            <a:off x="835223" y="11329154"/>
            <a:ext cx="1595795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Raw Data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46" name="Text 4"/>
          <p:cNvSpPr/>
          <p:nvPr/>
        </p:nvSpPr>
        <p:spPr>
          <a:xfrm>
            <a:off x="835223" y="11601331"/>
            <a:ext cx="6282928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Initial dataset from various sources.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563" y="11192709"/>
            <a:ext cx="60960" cy="739140"/>
          </a:xfrm>
          <a:prstGeom prst="rect">
            <a:avLst/>
          </a:prstGeom>
        </p:spPr>
      </p:pic>
      <p:sp>
        <p:nvSpPr>
          <p:cNvPr id="48" name="Text 6"/>
          <p:cNvSpPr/>
          <p:nvPr/>
        </p:nvSpPr>
        <p:spPr>
          <a:xfrm>
            <a:off x="7557968" y="11329154"/>
            <a:ext cx="1595795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Missing Values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49" name="Text 7"/>
          <p:cNvSpPr/>
          <p:nvPr/>
        </p:nvSpPr>
        <p:spPr>
          <a:xfrm>
            <a:off x="7557968" y="11601331"/>
            <a:ext cx="6282928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Handled nulls using mean imputation.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50" name="Shape 8"/>
          <p:cNvSpPr/>
          <p:nvPr/>
        </p:nvSpPr>
        <p:spPr>
          <a:xfrm>
            <a:off x="653058" y="12053054"/>
            <a:ext cx="6601539" cy="739140"/>
          </a:xfrm>
          <a:prstGeom prst="roundRect">
            <a:avLst>
              <a:gd name="adj" fmla="val 9897"/>
            </a:avLst>
          </a:prstGeom>
          <a:noFill/>
          <a:ln w="15240">
            <a:solidFill>
              <a:srgbClr val="BACFDD"/>
            </a:solidFill>
            <a:prstDash val="solid"/>
          </a:ln>
        </p:spPr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18" y="12053054"/>
            <a:ext cx="60960" cy="739140"/>
          </a:xfrm>
          <a:prstGeom prst="rect">
            <a:avLst/>
          </a:prstGeom>
        </p:spPr>
      </p:pic>
      <p:sp>
        <p:nvSpPr>
          <p:cNvPr id="52" name="Text 9"/>
          <p:cNvSpPr/>
          <p:nvPr/>
        </p:nvSpPr>
        <p:spPr>
          <a:xfrm>
            <a:off x="835223" y="12189500"/>
            <a:ext cx="1595795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Scaling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53" name="Text 10"/>
          <p:cNvSpPr/>
          <p:nvPr/>
        </p:nvSpPr>
        <p:spPr>
          <a:xfrm>
            <a:off x="835223" y="12461677"/>
            <a:ext cx="6282928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Standardized ranges with StandardScaler.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563" y="12053054"/>
            <a:ext cx="60960" cy="739140"/>
          </a:xfrm>
          <a:prstGeom prst="rect">
            <a:avLst/>
          </a:prstGeom>
        </p:spPr>
      </p:pic>
      <p:sp>
        <p:nvSpPr>
          <p:cNvPr id="55" name="Text 12"/>
          <p:cNvSpPr/>
          <p:nvPr/>
        </p:nvSpPr>
        <p:spPr>
          <a:xfrm>
            <a:off x="7557968" y="12189500"/>
            <a:ext cx="1595795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Clean Dataset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56" name="Text 13"/>
          <p:cNvSpPr/>
          <p:nvPr/>
        </p:nvSpPr>
        <p:spPr>
          <a:xfrm>
            <a:off x="7557968" y="12461677"/>
            <a:ext cx="6282928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Ready for robust model training.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57" name="Text 14"/>
          <p:cNvSpPr/>
          <p:nvPr/>
        </p:nvSpPr>
        <p:spPr>
          <a:xfrm>
            <a:off x="653058" y="13049845"/>
            <a:ext cx="1595795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Missing Value Check: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58" name="Shape 16"/>
          <p:cNvSpPr/>
          <p:nvPr/>
        </p:nvSpPr>
        <p:spPr>
          <a:xfrm>
            <a:off x="637819" y="13385721"/>
            <a:ext cx="2570202" cy="1869282"/>
          </a:xfrm>
          <a:prstGeom prst="roundRect">
            <a:avLst>
              <a:gd name="adj" fmla="val 857"/>
            </a:avLst>
          </a:prstGeom>
          <a:solidFill>
            <a:srgbClr val="D4E9F7">
              <a:alpha val="10000"/>
            </a:srgb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59" name="Text 22"/>
          <p:cNvSpPr/>
          <p:nvPr/>
        </p:nvSpPr>
        <p:spPr>
          <a:xfrm>
            <a:off x="637819" y="15981402"/>
            <a:ext cx="13324284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Our meticulous preprocessing steps ensure the dataset is optimized for machine learning algorithms, providing a solid foundation for accurate temperature prediction.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577114" y="13387030"/>
            <a:ext cx="2570202" cy="1869282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Missing values after imputation: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CO2 Emissions (Tons/Capita)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Sea Level Rise (mm)   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Rainfall (mm)         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Population            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Renewable Energy (%)  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Extreme Weather Events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Forest Area (%)       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 err="1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dtype</a:t>
            </a: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int64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6" descr="Dark Blue Sky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26" r="5708"/>
          <a:stretch>
            <a:fillRect/>
          </a:stretch>
        </p:blipFill>
        <p:spPr bwMode="auto">
          <a:xfrm>
            <a:off x="0" y="0"/>
            <a:ext cx="14630400" cy="8272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/>
          <p:cNvSpPr/>
          <p:nvPr/>
        </p:nvSpPr>
        <p:spPr>
          <a:xfrm>
            <a:off x="653058" y="1038463"/>
            <a:ext cx="3191708" cy="3989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 Preprocessing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53058" y="1619369"/>
            <a:ext cx="13324284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Transforming raw climate data into a clean, model-ready format.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53058" y="1949887"/>
            <a:ext cx="6601539" cy="739140"/>
          </a:xfrm>
          <a:prstGeom prst="roundRect">
            <a:avLst>
              <a:gd name="adj" fmla="val 9897"/>
            </a:avLst>
          </a:prstGeom>
          <a:noFill/>
          <a:ln w="15240">
            <a:solidFill>
              <a:srgbClr val="BACF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18" y="1949887"/>
            <a:ext cx="60960" cy="7391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5223" y="2086332"/>
            <a:ext cx="1595795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Raw Data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835223" y="2358509"/>
            <a:ext cx="6282928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Initial dataset from various sources.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7375803" y="1949887"/>
            <a:ext cx="6601539" cy="739140"/>
          </a:xfrm>
          <a:prstGeom prst="roundRect">
            <a:avLst>
              <a:gd name="adj" fmla="val 9897"/>
            </a:avLst>
          </a:prstGeom>
          <a:noFill/>
          <a:ln w="15240">
            <a:solidFill>
              <a:srgbClr val="BACFDD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563" y="1949887"/>
            <a:ext cx="60960" cy="7391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57968" y="2086332"/>
            <a:ext cx="1595795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Missing Values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7557968" y="2358509"/>
            <a:ext cx="6282928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Handled nulls using mean imputation.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3" name="Shape 8"/>
          <p:cNvSpPr/>
          <p:nvPr/>
        </p:nvSpPr>
        <p:spPr>
          <a:xfrm>
            <a:off x="653058" y="2810232"/>
            <a:ext cx="6601539" cy="739140"/>
          </a:xfrm>
          <a:prstGeom prst="roundRect">
            <a:avLst>
              <a:gd name="adj" fmla="val 9897"/>
            </a:avLst>
          </a:prstGeom>
          <a:noFill/>
          <a:ln w="15240">
            <a:solidFill>
              <a:srgbClr val="BACFDD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18" y="2810232"/>
            <a:ext cx="60960" cy="7391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5223" y="2946678"/>
            <a:ext cx="1595795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Scaling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6" name="Text 10"/>
          <p:cNvSpPr/>
          <p:nvPr/>
        </p:nvSpPr>
        <p:spPr>
          <a:xfrm>
            <a:off x="835223" y="3218855"/>
            <a:ext cx="6282928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Standardized ranges with StandardScaler.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7" name="Shape 11"/>
          <p:cNvSpPr/>
          <p:nvPr/>
        </p:nvSpPr>
        <p:spPr>
          <a:xfrm>
            <a:off x="7375803" y="2810232"/>
            <a:ext cx="6601539" cy="739140"/>
          </a:xfrm>
          <a:prstGeom prst="roundRect">
            <a:avLst>
              <a:gd name="adj" fmla="val 9897"/>
            </a:avLst>
          </a:prstGeom>
          <a:noFill/>
          <a:ln w="15240">
            <a:solidFill>
              <a:srgbClr val="BACFDD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563" y="2810232"/>
            <a:ext cx="60960" cy="7391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557968" y="2946678"/>
            <a:ext cx="1595795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Clean Dataset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0" name="Text 13"/>
          <p:cNvSpPr/>
          <p:nvPr/>
        </p:nvSpPr>
        <p:spPr>
          <a:xfrm>
            <a:off x="7557968" y="3218855"/>
            <a:ext cx="6282928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Ready for robust model training.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1" name="Text 14"/>
          <p:cNvSpPr/>
          <p:nvPr/>
        </p:nvSpPr>
        <p:spPr>
          <a:xfrm>
            <a:off x="653058" y="3807023"/>
            <a:ext cx="1595795" cy="199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Missing Value Check: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3" name="Shape 16"/>
          <p:cNvSpPr/>
          <p:nvPr/>
        </p:nvSpPr>
        <p:spPr>
          <a:xfrm>
            <a:off x="637819" y="4142899"/>
            <a:ext cx="2570202" cy="1869282"/>
          </a:xfrm>
          <a:prstGeom prst="roundRect">
            <a:avLst>
              <a:gd name="adj" fmla="val 857"/>
            </a:avLst>
          </a:prstGeom>
          <a:solidFill>
            <a:srgbClr val="D4E9F7">
              <a:alpha val="10000"/>
            </a:srgb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24" name="Text 17"/>
          <p:cNvSpPr/>
          <p:nvPr/>
        </p:nvSpPr>
        <p:spPr>
          <a:xfrm>
            <a:off x="768310" y="4233863"/>
            <a:ext cx="6283762" cy="3721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CO2 Emissions (Tons/Capita)    0</a:t>
            </a:r>
            <a:endParaRPr lang="en-US" sz="9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Sea Level Rise (mm)            0</a:t>
            </a:r>
            <a:endParaRPr lang="en-US" sz="9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Rainfall (mm)                  0</a:t>
            </a:r>
            <a:endParaRPr lang="en-US" sz="9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Population                     0</a:t>
            </a:r>
            <a:endParaRPr lang="en-US" sz="9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Renewable Energy (%)           0</a:t>
            </a:r>
            <a:endParaRPr lang="en-US" sz="9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Extreme Weather Events         0</a:t>
            </a:r>
            <a:endParaRPr lang="en-US" sz="9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Forest Area (%)                0</a:t>
            </a:r>
            <a:endParaRPr lang="en-US" sz="9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 err="1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dtype</a:t>
            </a:r>
            <a:r>
              <a:rPr lang="en-US" sz="95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int64</a:t>
            </a:r>
            <a:endParaRPr lang="en-US" sz="95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637819" y="6738580"/>
            <a:ext cx="13324284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Our meticulous preprocessing steps ensure the dataset is optimized for machine learning algorithms, providing a solid foundation for accurate temperature prediction.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577114" y="4144208"/>
            <a:ext cx="2570202" cy="1869282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Missing values after imputation: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CO2 Emissions (Tons/Capita)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Sea Level Rise (mm)   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Rainfall (mm)         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Population            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Renewable Energy (%)  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Extreme Weather Events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Forest Area (%)                0</a:t>
            </a:r>
            <a:endParaRPr lang="en-US" sz="950" dirty="0"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500"/>
              </a:lnSpc>
            </a:pPr>
            <a:r>
              <a:rPr lang="en-US" sz="950" dirty="0" err="1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dtype</a:t>
            </a:r>
            <a:r>
              <a:rPr lang="en-US" sz="95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int64</a:t>
            </a:r>
            <a:endParaRPr lang="en-US" sz="950" dirty="0"/>
          </a:p>
        </p:txBody>
      </p:sp>
      <p:sp>
        <p:nvSpPr>
          <p:cNvPr id="55" name="Text 1"/>
          <p:cNvSpPr/>
          <p:nvPr/>
        </p:nvSpPr>
        <p:spPr>
          <a:xfrm>
            <a:off x="-9191267" y="590788"/>
            <a:ext cx="6839069" cy="6007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Engineering &amp; Selection</a:t>
            </a:r>
            <a:endParaRPr lang="en-US" sz="3750" dirty="0"/>
          </a:p>
        </p:txBody>
      </p:sp>
      <p:sp>
        <p:nvSpPr>
          <p:cNvPr id="56" name="Text 2"/>
          <p:cNvSpPr/>
          <p:nvPr/>
        </p:nvSpPr>
        <p:spPr>
          <a:xfrm>
            <a:off x="-9191267" y="1465421"/>
            <a:ext cx="13126402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Understanding which inputs drive temperature change.</a:t>
            </a:r>
            <a:endParaRPr lang="en-US" sz="1400" dirty="0"/>
          </a:p>
        </p:txBody>
      </p:sp>
      <p:sp>
        <p:nvSpPr>
          <p:cNvPr id="57" name="Text 3"/>
          <p:cNvSpPr/>
          <p:nvPr/>
        </p:nvSpPr>
        <p:spPr>
          <a:xfrm>
            <a:off x="-6983729" y="1962983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Target Variable</a:t>
            </a:r>
            <a:endParaRPr lang="en-US" sz="1850" dirty="0"/>
          </a:p>
        </p:txBody>
      </p:sp>
      <p:sp>
        <p:nvSpPr>
          <p:cNvPr id="58" name="Text 4"/>
          <p:cNvSpPr/>
          <p:nvPr/>
        </p:nvSpPr>
        <p:spPr>
          <a:xfrm>
            <a:off x="-9191267" y="2372797"/>
            <a:ext cx="4610695" cy="5843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Avg Temperature (°C)</a:t>
            </a: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The primary focus of our prediction model.</a:t>
            </a:r>
            <a:endParaRPr lang="en-US" sz="1400" dirty="0"/>
          </a:p>
        </p:txBody>
      </p:sp>
      <p:sp>
        <p:nvSpPr>
          <p:cNvPr id="59" name="Text 14"/>
          <p:cNvSpPr/>
          <p:nvPr/>
        </p:nvSpPr>
        <p:spPr>
          <a:xfrm>
            <a:off x="-6983729" y="5182672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Renewable Energy</a:t>
            </a:r>
            <a:endParaRPr lang="en-US" sz="1850" dirty="0"/>
          </a:p>
        </p:txBody>
      </p:sp>
      <p:sp>
        <p:nvSpPr>
          <p:cNvPr id="60" name="Text 15"/>
          <p:cNvSpPr/>
          <p:nvPr/>
        </p:nvSpPr>
        <p:spPr>
          <a:xfrm>
            <a:off x="-9191267" y="5592485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Percentage</a:t>
            </a:r>
            <a:endParaRPr lang="en-US" sz="1400" dirty="0"/>
          </a:p>
        </p:txBody>
      </p:sp>
      <p:sp>
        <p:nvSpPr>
          <p:cNvPr id="61" name="Text 16"/>
          <p:cNvSpPr/>
          <p:nvPr/>
        </p:nvSpPr>
        <p:spPr>
          <a:xfrm>
            <a:off x="-6983729" y="4206835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Extreme Weather</a:t>
            </a:r>
            <a:endParaRPr lang="en-US" sz="1850" dirty="0"/>
          </a:p>
        </p:txBody>
      </p:sp>
      <p:sp>
        <p:nvSpPr>
          <p:cNvPr id="62" name="Text 17"/>
          <p:cNvSpPr/>
          <p:nvPr/>
        </p:nvSpPr>
        <p:spPr>
          <a:xfrm>
            <a:off x="-9191267" y="4616648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Event Frequency</a:t>
            </a:r>
            <a:endParaRPr lang="en-US" sz="1400" dirty="0"/>
          </a:p>
        </p:txBody>
      </p:sp>
      <p:sp>
        <p:nvSpPr>
          <p:cNvPr id="63" name="Text 18"/>
          <p:cNvSpPr/>
          <p:nvPr/>
        </p:nvSpPr>
        <p:spPr>
          <a:xfrm>
            <a:off x="-6983729" y="3230999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Forest Area</a:t>
            </a:r>
            <a:endParaRPr lang="en-US" sz="1850" dirty="0"/>
          </a:p>
        </p:txBody>
      </p:sp>
      <p:sp>
        <p:nvSpPr>
          <p:cNvPr id="64" name="Text 19"/>
          <p:cNvSpPr/>
          <p:nvPr/>
        </p:nvSpPr>
        <p:spPr>
          <a:xfrm>
            <a:off x="-9191267" y="3640812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Percentage</a:t>
            </a:r>
            <a:endParaRPr lang="en-US" sz="1400" dirty="0"/>
          </a:p>
        </p:txBody>
      </p:sp>
      <p:sp>
        <p:nvSpPr>
          <p:cNvPr id="65" name="Text 6"/>
          <p:cNvSpPr/>
          <p:nvPr/>
        </p:nvSpPr>
        <p:spPr>
          <a:xfrm>
            <a:off x="21516319" y="2109073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CO₂ Emissions</a:t>
            </a:r>
            <a:endParaRPr lang="en-US" sz="1850" dirty="0"/>
          </a:p>
        </p:txBody>
      </p:sp>
      <p:sp>
        <p:nvSpPr>
          <p:cNvPr id="66" name="Text 7"/>
          <p:cNvSpPr/>
          <p:nvPr/>
        </p:nvSpPr>
        <p:spPr>
          <a:xfrm>
            <a:off x="21516319" y="2518886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Tons/Capita</a:t>
            </a:r>
            <a:endParaRPr lang="en-US" sz="1400" dirty="0"/>
          </a:p>
        </p:txBody>
      </p:sp>
      <p:sp>
        <p:nvSpPr>
          <p:cNvPr id="67" name="Text 8"/>
          <p:cNvSpPr/>
          <p:nvPr/>
        </p:nvSpPr>
        <p:spPr>
          <a:xfrm>
            <a:off x="21516319" y="3230999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Sea Level Rise</a:t>
            </a:r>
            <a:endParaRPr lang="en-US" sz="1850" dirty="0"/>
          </a:p>
        </p:txBody>
      </p:sp>
      <p:sp>
        <p:nvSpPr>
          <p:cNvPr id="68" name="Text 9"/>
          <p:cNvSpPr/>
          <p:nvPr/>
        </p:nvSpPr>
        <p:spPr>
          <a:xfrm>
            <a:off x="21516319" y="3640812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Millimeters</a:t>
            </a:r>
            <a:endParaRPr lang="en-US" sz="1400" dirty="0"/>
          </a:p>
        </p:txBody>
      </p:sp>
      <p:sp>
        <p:nvSpPr>
          <p:cNvPr id="69" name="Text 10"/>
          <p:cNvSpPr/>
          <p:nvPr/>
        </p:nvSpPr>
        <p:spPr>
          <a:xfrm>
            <a:off x="21516319" y="4206835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Rainfall</a:t>
            </a:r>
            <a:endParaRPr lang="en-US" sz="1850" dirty="0"/>
          </a:p>
        </p:txBody>
      </p:sp>
      <p:sp>
        <p:nvSpPr>
          <p:cNvPr id="70" name="Text 11"/>
          <p:cNvSpPr/>
          <p:nvPr/>
        </p:nvSpPr>
        <p:spPr>
          <a:xfrm>
            <a:off x="21516319" y="4616648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Millimeters</a:t>
            </a:r>
            <a:endParaRPr lang="en-US" sz="1400" dirty="0"/>
          </a:p>
        </p:txBody>
      </p:sp>
      <p:sp>
        <p:nvSpPr>
          <p:cNvPr id="71" name="Text 12"/>
          <p:cNvSpPr/>
          <p:nvPr/>
        </p:nvSpPr>
        <p:spPr>
          <a:xfrm>
            <a:off x="21516319" y="5182672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Population</a:t>
            </a:r>
            <a:endParaRPr lang="en-US" sz="1850" dirty="0"/>
          </a:p>
        </p:txBody>
      </p:sp>
      <p:sp>
        <p:nvSpPr>
          <p:cNvPr id="72" name="Text 13"/>
          <p:cNvSpPr/>
          <p:nvPr/>
        </p:nvSpPr>
        <p:spPr>
          <a:xfrm>
            <a:off x="21516319" y="5592485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Global Count</a:t>
            </a:r>
            <a:endParaRPr lang="en-US" sz="1400" dirty="0"/>
          </a:p>
        </p:txBody>
      </p:sp>
      <p:pic>
        <p:nvPicPr>
          <p:cNvPr id="73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22" y="16279297"/>
            <a:ext cx="300395" cy="240268"/>
          </a:xfrm>
          <a:prstGeom prst="rect">
            <a:avLst/>
          </a:prstGeom>
        </p:spPr>
      </p:pic>
      <p:sp>
        <p:nvSpPr>
          <p:cNvPr id="74" name="Text 21"/>
          <p:cNvSpPr/>
          <p:nvPr/>
        </p:nvSpPr>
        <p:spPr>
          <a:xfrm>
            <a:off x="1417439" y="16245722"/>
            <a:ext cx="2435423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Why Manual Selection?</a:t>
            </a:r>
            <a:endParaRPr lang="en-US" sz="1850" dirty="0"/>
          </a:p>
        </p:txBody>
      </p:sp>
      <p:sp>
        <p:nvSpPr>
          <p:cNvPr id="75" name="Text 22"/>
          <p:cNvSpPr/>
          <p:nvPr/>
        </p:nvSpPr>
        <p:spPr>
          <a:xfrm>
            <a:off x="1417439" y="16728520"/>
            <a:ext cx="12278439" cy="5843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Our features were carefully selected based on </a:t>
            </a:r>
            <a:r>
              <a:rPr lang="en-US" sz="14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climate science relevance</a:t>
            </a: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and </a:t>
            </a:r>
            <a:r>
              <a:rPr lang="en-US" sz="14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domain knowledge</a:t>
            </a: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 This approach helped us avoid redundant or weakly correlated features, ensuring a robust and interpretable model.</a:t>
            </a:r>
            <a:endParaRPr lang="en-US" sz="1400" dirty="0"/>
          </a:p>
        </p:txBody>
      </p:sp>
      <p:pic>
        <p:nvPicPr>
          <p:cNvPr id="78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152" y="8783002"/>
            <a:ext cx="3905012" cy="3905012"/>
          </a:xfrm>
          <a:prstGeom prst="rect">
            <a:avLst/>
          </a:prstGeom>
        </p:spPr>
      </p:pic>
      <p:pic>
        <p:nvPicPr>
          <p:cNvPr id="79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4152" y="8850749"/>
            <a:ext cx="3905012" cy="3905012"/>
          </a:xfrm>
          <a:prstGeom prst="rect">
            <a:avLst/>
          </a:prstGeom>
        </p:spPr>
      </p:pic>
      <p:pic>
        <p:nvPicPr>
          <p:cNvPr id="8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462" y="8918496"/>
            <a:ext cx="3905012" cy="3905012"/>
          </a:xfrm>
          <a:prstGeom prst="rect">
            <a:avLst/>
          </a:prstGeom>
        </p:spPr>
      </p:pic>
      <p:pic>
        <p:nvPicPr>
          <p:cNvPr id="81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494" y="8915103"/>
            <a:ext cx="3905012" cy="3905012"/>
          </a:xfrm>
          <a:prstGeom prst="rect">
            <a:avLst/>
          </a:prstGeom>
        </p:spPr>
      </p:pic>
      <p:pic>
        <p:nvPicPr>
          <p:cNvPr id="8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3214" y="8874978"/>
            <a:ext cx="3905012" cy="3905012"/>
          </a:xfrm>
          <a:prstGeom prst="rect">
            <a:avLst/>
          </a:prstGeom>
        </p:spPr>
      </p:pic>
      <p:pic>
        <p:nvPicPr>
          <p:cNvPr id="8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3214" y="8830419"/>
            <a:ext cx="3905012" cy="3905012"/>
          </a:xfrm>
          <a:prstGeom prst="rect">
            <a:avLst/>
          </a:prstGeom>
        </p:spPr>
      </p:pic>
      <p:pic>
        <p:nvPicPr>
          <p:cNvPr id="84" name="Image 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1897" y="8842951"/>
            <a:ext cx="3905012" cy="3905012"/>
          </a:xfrm>
          <a:prstGeom prst="rect">
            <a:avLst/>
          </a:prstGeom>
        </p:spPr>
      </p:pic>
      <p:pic>
        <p:nvPicPr>
          <p:cNvPr id="85" name="Image 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8202" y="8787049"/>
            <a:ext cx="3905012" cy="3905012"/>
          </a:xfrm>
          <a:prstGeom prst="rect">
            <a:avLst/>
          </a:prstGeom>
        </p:spPr>
      </p:pic>
      <p:sp>
        <p:nvSpPr>
          <p:cNvPr id="92" name="Text 5"/>
          <p:cNvSpPr/>
          <p:nvPr/>
        </p:nvSpPr>
        <p:spPr>
          <a:xfrm>
            <a:off x="7106722" y="9710803"/>
            <a:ext cx="256818" cy="2918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1</a:t>
            </a:r>
            <a:endParaRPr lang="en-US" sz="2000" dirty="0"/>
          </a:p>
        </p:txBody>
      </p:sp>
      <p:pic>
        <p:nvPicPr>
          <p:cNvPr id="93" name="Image 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7897" y="9710803"/>
            <a:ext cx="233471" cy="291811"/>
          </a:xfrm>
          <a:prstGeom prst="rect">
            <a:avLst/>
          </a:prstGeom>
        </p:spPr>
      </p:pic>
      <p:pic>
        <p:nvPicPr>
          <p:cNvPr id="94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2131" y="10255038"/>
            <a:ext cx="233471" cy="291811"/>
          </a:xfrm>
          <a:prstGeom prst="rect">
            <a:avLst/>
          </a:prstGeom>
        </p:spPr>
      </p:pic>
      <p:pic>
        <p:nvPicPr>
          <p:cNvPr id="95" name="Image 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7897" y="11568773"/>
            <a:ext cx="233471" cy="291811"/>
          </a:xfrm>
          <a:prstGeom prst="rect">
            <a:avLst/>
          </a:prstGeom>
        </p:spPr>
      </p:pic>
      <p:pic>
        <p:nvPicPr>
          <p:cNvPr id="96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18396" y="11568773"/>
            <a:ext cx="233471" cy="291811"/>
          </a:xfrm>
          <a:prstGeom prst="rect">
            <a:avLst/>
          </a:prstGeom>
        </p:spPr>
      </p:pic>
      <p:pic>
        <p:nvPicPr>
          <p:cNvPr id="97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4161" y="11024538"/>
            <a:ext cx="233471" cy="291811"/>
          </a:xfrm>
          <a:prstGeom prst="rect">
            <a:avLst/>
          </a:prstGeom>
        </p:spPr>
      </p:pic>
      <p:pic>
        <p:nvPicPr>
          <p:cNvPr id="98" name="Image 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6177" y="11004140"/>
            <a:ext cx="256818" cy="320992"/>
          </a:xfrm>
          <a:prstGeom prst="rect">
            <a:avLst/>
          </a:prstGeom>
        </p:spPr>
      </p:pic>
      <p:pic>
        <p:nvPicPr>
          <p:cNvPr id="99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8207" y="10234640"/>
            <a:ext cx="256818" cy="3209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12,093,500+ Blue Sky Stock Photos, Pictures &amp; Royalty-Free Images - iStock  | Blue sky clouds, Blue sky sun, Clear sk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563"/>
            <a:ext cx="14630400" cy="821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/>
          <p:cNvSpPr/>
          <p:nvPr/>
        </p:nvSpPr>
        <p:spPr>
          <a:xfrm>
            <a:off x="0" y="36975"/>
            <a:ext cx="14630400" cy="8231624"/>
          </a:xfrm>
          <a:prstGeom prst="rect">
            <a:avLst/>
          </a:prstGeom>
          <a:solidFill>
            <a:srgbClr val="F2F2F2">
              <a:alpha val="10000"/>
            </a:srgb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4" name="Text 1"/>
          <p:cNvSpPr/>
          <p:nvPr/>
        </p:nvSpPr>
        <p:spPr>
          <a:xfrm>
            <a:off x="751999" y="590788"/>
            <a:ext cx="6839069" cy="6007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Engineering &amp; Selection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751999" y="1465421"/>
            <a:ext cx="13126402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Understanding which inputs drive temperature change.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959537" y="1962983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Target Variable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1999" y="2372797"/>
            <a:ext cx="4610695" cy="5843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Avg Temperature (°C)</a:t>
            </a: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The primary focus of our prediction model.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01922" y="2834283"/>
            <a:ext cx="256818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267706" y="2109073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CO₂ Emissions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267706" y="2518886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Tons/Capita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423" y="2834283"/>
            <a:ext cx="256818" cy="3209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67706" y="3230999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Sea Level Rise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9267706" y="3640812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Millimeters</a:t>
            </a:r>
            <a:endParaRPr lang="en-US" sz="14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657" y="3378518"/>
            <a:ext cx="256818" cy="3209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267706" y="4206835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Rainfall</a:t>
            </a:r>
            <a:endParaRPr lang="en-US" sz="1850" dirty="0"/>
          </a:p>
        </p:txBody>
      </p:sp>
      <p:sp>
        <p:nvSpPr>
          <p:cNvPr id="19" name="Text 11"/>
          <p:cNvSpPr/>
          <p:nvPr/>
        </p:nvSpPr>
        <p:spPr>
          <a:xfrm>
            <a:off x="9267706" y="4616648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Millimeters</a:t>
            </a:r>
            <a:endParaRPr lang="en-US" sz="14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657" y="4148018"/>
            <a:ext cx="256818" cy="3209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267706" y="5182672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Population</a:t>
            </a:r>
            <a:endParaRPr lang="en-US" sz="1850" dirty="0"/>
          </a:p>
        </p:txBody>
      </p:sp>
      <p:sp>
        <p:nvSpPr>
          <p:cNvPr id="23" name="Text 13"/>
          <p:cNvSpPr/>
          <p:nvPr/>
        </p:nvSpPr>
        <p:spPr>
          <a:xfrm>
            <a:off x="9267706" y="5592485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Global Count</a:t>
            </a:r>
            <a:endParaRPr lang="en-US" sz="14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423" y="4692253"/>
            <a:ext cx="256818" cy="32099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2959537" y="5182672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Renewable Energy</a:t>
            </a:r>
            <a:endParaRPr lang="en-US" sz="1850" dirty="0"/>
          </a:p>
        </p:txBody>
      </p:sp>
      <p:sp>
        <p:nvSpPr>
          <p:cNvPr id="27" name="Text 15"/>
          <p:cNvSpPr/>
          <p:nvPr/>
        </p:nvSpPr>
        <p:spPr>
          <a:xfrm>
            <a:off x="751999" y="5592485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Percentage</a:t>
            </a:r>
            <a:endParaRPr lang="en-US" sz="14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1922" y="4692253"/>
            <a:ext cx="256818" cy="320992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2959537" y="4206835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Extreme Weather</a:t>
            </a:r>
            <a:endParaRPr lang="en-US" sz="1850" dirty="0"/>
          </a:p>
        </p:txBody>
      </p:sp>
      <p:sp>
        <p:nvSpPr>
          <p:cNvPr id="31" name="Text 17"/>
          <p:cNvSpPr/>
          <p:nvPr/>
        </p:nvSpPr>
        <p:spPr>
          <a:xfrm>
            <a:off x="751999" y="4616648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Event Frequency</a:t>
            </a:r>
            <a:endParaRPr lang="en-US" sz="140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687" y="4148018"/>
            <a:ext cx="256818" cy="320992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2959537" y="3230999"/>
            <a:ext cx="2403158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Forest Area</a:t>
            </a:r>
            <a:endParaRPr lang="en-US" sz="1850" dirty="0"/>
          </a:p>
        </p:txBody>
      </p:sp>
      <p:sp>
        <p:nvSpPr>
          <p:cNvPr id="35" name="Text 19"/>
          <p:cNvSpPr/>
          <p:nvPr/>
        </p:nvSpPr>
        <p:spPr>
          <a:xfrm>
            <a:off x="751999" y="3640812"/>
            <a:ext cx="4610695" cy="292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Percentage</a:t>
            </a:r>
            <a:endParaRPr lang="en-US" sz="14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7687" y="3378518"/>
            <a:ext cx="256818" cy="320992"/>
          </a:xfrm>
          <a:prstGeom prst="rect">
            <a:avLst/>
          </a:prstGeom>
        </p:spPr>
      </p:pic>
      <p:sp>
        <p:nvSpPr>
          <p:cNvPr id="38" name="Shape 20"/>
          <p:cNvSpPr/>
          <p:nvPr/>
        </p:nvSpPr>
        <p:spPr>
          <a:xfrm>
            <a:off x="751999" y="6090047"/>
            <a:ext cx="13126402" cy="1550789"/>
          </a:xfrm>
          <a:prstGeom prst="roundRect">
            <a:avLst>
              <a:gd name="adj" fmla="val 17666"/>
            </a:avLst>
          </a:prstGeom>
          <a:solidFill>
            <a:srgbClr val="B6D6FC"/>
          </a:solidFill>
        </p:spPr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522" y="6351746"/>
            <a:ext cx="300395" cy="240268"/>
          </a:xfrm>
          <a:prstGeom prst="rect">
            <a:avLst/>
          </a:prstGeom>
        </p:spPr>
      </p:pic>
      <p:sp>
        <p:nvSpPr>
          <p:cNvPr id="40" name="Text 21"/>
          <p:cNvSpPr/>
          <p:nvPr/>
        </p:nvSpPr>
        <p:spPr>
          <a:xfrm>
            <a:off x="1417439" y="6318171"/>
            <a:ext cx="2435423" cy="3002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Why Manual Selection?</a:t>
            </a:r>
            <a:endParaRPr lang="en-US" sz="1850" dirty="0"/>
          </a:p>
        </p:txBody>
      </p:sp>
      <p:sp>
        <p:nvSpPr>
          <p:cNvPr id="41" name="Text 22"/>
          <p:cNvSpPr/>
          <p:nvPr/>
        </p:nvSpPr>
        <p:spPr>
          <a:xfrm>
            <a:off x="1417439" y="6800969"/>
            <a:ext cx="12278439" cy="5843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Our features were carefully selected based on </a:t>
            </a:r>
            <a:r>
              <a:rPr lang="en-US" sz="14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climate science relevance</a:t>
            </a: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and </a:t>
            </a:r>
            <a:r>
              <a:rPr lang="en-US" sz="14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domain knowledge</a:t>
            </a:r>
            <a:r>
              <a:rPr lang="en-US" sz="14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 This approach helped us avoid redundant or weakly correlated features, ensuring a robust and interpretable model.</a:t>
            </a:r>
            <a:endParaRPr lang="en-US" sz="1400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0806" y="1940122"/>
            <a:ext cx="3905012" cy="3905012"/>
          </a:xfrm>
          <a:prstGeom prst="rect">
            <a:avLst/>
          </a:prstGeom>
        </p:spPr>
      </p:pic>
      <p:sp>
        <p:nvSpPr>
          <p:cNvPr id="43" name="Text 5"/>
          <p:cNvSpPr/>
          <p:nvPr/>
        </p:nvSpPr>
        <p:spPr>
          <a:xfrm>
            <a:off x="6930034" y="2803087"/>
            <a:ext cx="256818" cy="3209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1</a:t>
            </a:r>
            <a:endParaRPr lang="en-US" sz="2000" dirty="0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90806" y="1940122"/>
            <a:ext cx="3905012" cy="3905012"/>
          </a:xfrm>
          <a:prstGeom prst="rect">
            <a:avLst/>
          </a:prstGeom>
        </p:spPr>
      </p:pic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535" y="2803087"/>
            <a:ext cx="256818" cy="320992"/>
          </a:xfrm>
          <a:prstGeom prst="rect">
            <a:avLst/>
          </a:prstGeom>
        </p:spPr>
      </p:pic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0806" y="1940122"/>
            <a:ext cx="3905012" cy="3905012"/>
          </a:xfrm>
          <a:prstGeom prst="rect">
            <a:avLst/>
          </a:prstGeom>
        </p:spPr>
      </p:pic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769" y="3347322"/>
            <a:ext cx="256818" cy="320992"/>
          </a:xfrm>
          <a:prstGeom prst="rect">
            <a:avLst/>
          </a:prstGeom>
        </p:spPr>
      </p:pic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90806" y="1940122"/>
            <a:ext cx="3905012" cy="3905012"/>
          </a:xfrm>
          <a:prstGeom prst="rect">
            <a:avLst/>
          </a:prstGeom>
        </p:spPr>
      </p:pic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769" y="4116822"/>
            <a:ext cx="256818" cy="320992"/>
          </a:xfrm>
          <a:prstGeom prst="rect">
            <a:avLst/>
          </a:prstGeom>
        </p:spPr>
      </p:pic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90806" y="1940122"/>
            <a:ext cx="3905012" cy="3905012"/>
          </a:xfrm>
          <a:prstGeom prst="rect">
            <a:avLst/>
          </a:prstGeom>
        </p:spPr>
      </p:pic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535" y="4661057"/>
            <a:ext cx="256818" cy="320992"/>
          </a:xfrm>
          <a:prstGeom prst="rect">
            <a:avLst/>
          </a:prstGeom>
        </p:spPr>
      </p:pic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90806" y="1940122"/>
            <a:ext cx="3905012" cy="3905012"/>
          </a:xfrm>
          <a:prstGeom prst="rect">
            <a:avLst/>
          </a:prstGeom>
        </p:spPr>
      </p:pic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0034" y="4661057"/>
            <a:ext cx="256818" cy="320992"/>
          </a:xfrm>
          <a:prstGeom prst="rect">
            <a:avLst/>
          </a:prstGeom>
        </p:spPr>
      </p:pic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90806" y="1940122"/>
            <a:ext cx="3905012" cy="3905012"/>
          </a:xfrm>
          <a:prstGeom prst="rect">
            <a:avLst/>
          </a:prstGeom>
        </p:spPr>
      </p:pic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5799" y="4116822"/>
            <a:ext cx="256818" cy="320992"/>
          </a:xfrm>
          <a:prstGeom prst="rect">
            <a:avLst/>
          </a:prstGeom>
        </p:spPr>
      </p:pic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90806" y="1940122"/>
            <a:ext cx="3905012" cy="3905012"/>
          </a:xfrm>
          <a:prstGeom prst="rect">
            <a:avLst/>
          </a:prstGeom>
        </p:spPr>
      </p:pic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5799" y="3347322"/>
            <a:ext cx="256818" cy="320992"/>
          </a:xfrm>
          <a:prstGeom prst="rect">
            <a:avLst/>
          </a:prstGeom>
        </p:spPr>
      </p:pic>
      <p:pic>
        <p:nvPicPr>
          <p:cNvPr id="58" name="Picture 2" descr="How To Read Clouds | BoatUS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41" r="-1"/>
          <a:stretch>
            <a:fillRect/>
          </a:stretch>
        </p:blipFill>
        <p:spPr bwMode="auto">
          <a:xfrm>
            <a:off x="-7538413" y="27205"/>
            <a:ext cx="4863465" cy="8241626"/>
          </a:xfrm>
          <a:prstGeom prst="flowChartDelay">
            <a:avLst/>
          </a:prstGeom>
          <a:pattFill prst="pct5">
            <a:fgClr>
              <a:srgbClr val="F2F2F2"/>
            </a:fgClr>
            <a:bgClr>
              <a:schemeClr val="bg1"/>
            </a:bgClr>
          </a:pattFill>
        </p:spPr>
      </p:pic>
      <p:sp>
        <p:nvSpPr>
          <p:cNvPr id="59" name="Text 0"/>
          <p:cNvSpPr/>
          <p:nvPr/>
        </p:nvSpPr>
        <p:spPr>
          <a:xfrm>
            <a:off x="15776732" y="1174909"/>
            <a:ext cx="7627382" cy="10691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System Architecture: How Everything Connects</a:t>
            </a:r>
            <a:endParaRPr lang="en-US" sz="3350" dirty="0"/>
          </a:p>
        </p:txBody>
      </p:sp>
      <p:sp>
        <p:nvSpPr>
          <p:cNvPr id="60" name="Text 1"/>
          <p:cNvSpPr/>
          <p:nvPr/>
        </p:nvSpPr>
        <p:spPr>
          <a:xfrm>
            <a:off x="15776732" y="2487811"/>
            <a:ext cx="7627382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Our project follows a streamlined pipeline, transforming raw climate data into actionable insights for temperature prediction.</a:t>
            </a:r>
            <a:endParaRPr lang="en-US" sz="1250" dirty="0"/>
          </a:p>
        </p:txBody>
      </p:sp>
      <p:sp>
        <p:nvSpPr>
          <p:cNvPr id="61" name="Shape 2"/>
          <p:cNvSpPr/>
          <p:nvPr/>
        </p:nvSpPr>
        <p:spPr>
          <a:xfrm>
            <a:off x="15776732" y="4992648"/>
            <a:ext cx="7627382" cy="22860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62" name="Shape 3"/>
          <p:cNvSpPr/>
          <p:nvPr/>
        </p:nvSpPr>
        <p:spPr>
          <a:xfrm>
            <a:off x="16782334" y="4505206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63" name="Shape 4"/>
          <p:cNvSpPr/>
          <p:nvPr/>
        </p:nvSpPr>
        <p:spPr>
          <a:xfrm>
            <a:off x="16611003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240" name="Image 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665534" y="4832330"/>
            <a:ext cx="256461" cy="320635"/>
          </a:xfrm>
          <a:prstGeom prst="rect">
            <a:avLst/>
          </a:prstGeom>
        </p:spPr>
      </p:pic>
      <p:sp>
        <p:nvSpPr>
          <p:cNvPr id="10241" name="Text 5"/>
          <p:cNvSpPr/>
          <p:nvPr/>
        </p:nvSpPr>
        <p:spPr>
          <a:xfrm>
            <a:off x="15939133" y="3717965"/>
            <a:ext cx="1709261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Raw Dataset</a:t>
            </a:r>
            <a:endParaRPr lang="en-US" sz="1650" dirty="0"/>
          </a:p>
        </p:txBody>
      </p:sp>
      <p:sp>
        <p:nvSpPr>
          <p:cNvPr id="10243" name="Text 6"/>
          <p:cNvSpPr/>
          <p:nvPr/>
        </p:nvSpPr>
        <p:spPr>
          <a:xfrm>
            <a:off x="15939133" y="4082653"/>
            <a:ext cx="1709261" cy="260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CSV from Kaggle</a:t>
            </a:r>
            <a:endParaRPr lang="en-US" sz="1250" dirty="0"/>
          </a:p>
        </p:txBody>
      </p:sp>
      <p:sp>
        <p:nvSpPr>
          <p:cNvPr id="10245" name="Shape 7"/>
          <p:cNvSpPr/>
          <p:nvPr/>
        </p:nvSpPr>
        <p:spPr>
          <a:xfrm>
            <a:off x="17900926" y="4992648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10246" name="Shape 8"/>
          <p:cNvSpPr/>
          <p:nvPr/>
        </p:nvSpPr>
        <p:spPr>
          <a:xfrm>
            <a:off x="17729595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247" name="Image 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784126" y="4832330"/>
            <a:ext cx="256461" cy="320635"/>
          </a:xfrm>
          <a:prstGeom prst="rect">
            <a:avLst/>
          </a:prstGeom>
        </p:spPr>
      </p:pic>
      <p:sp>
        <p:nvSpPr>
          <p:cNvPr id="10248" name="Text 9"/>
          <p:cNvSpPr/>
          <p:nvPr/>
        </p:nvSpPr>
        <p:spPr>
          <a:xfrm>
            <a:off x="17057726" y="5642610"/>
            <a:ext cx="1709380" cy="5345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 Preprocessing</a:t>
            </a:r>
            <a:endParaRPr lang="en-US" sz="1650" dirty="0"/>
          </a:p>
        </p:txBody>
      </p:sp>
      <p:sp>
        <p:nvSpPr>
          <p:cNvPr id="10249" name="Text 10"/>
          <p:cNvSpPr/>
          <p:nvPr/>
        </p:nvSpPr>
        <p:spPr>
          <a:xfrm>
            <a:off x="17057726" y="6274594"/>
            <a:ext cx="1709380" cy="78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Handling missing values, feature scaling</a:t>
            </a:r>
            <a:endParaRPr lang="en-US" sz="1250" dirty="0"/>
          </a:p>
        </p:txBody>
      </p:sp>
      <p:sp>
        <p:nvSpPr>
          <p:cNvPr id="10250" name="Shape 11"/>
          <p:cNvSpPr/>
          <p:nvPr/>
        </p:nvSpPr>
        <p:spPr>
          <a:xfrm>
            <a:off x="19019518" y="4505206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10251" name="Shape 12"/>
          <p:cNvSpPr/>
          <p:nvPr/>
        </p:nvSpPr>
        <p:spPr>
          <a:xfrm>
            <a:off x="18848187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252" name="Image 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902718" y="4832330"/>
            <a:ext cx="256461" cy="320635"/>
          </a:xfrm>
          <a:prstGeom prst="rect">
            <a:avLst/>
          </a:prstGeom>
        </p:spPr>
      </p:pic>
      <p:sp>
        <p:nvSpPr>
          <p:cNvPr id="10253" name="Text 13"/>
          <p:cNvSpPr/>
          <p:nvPr/>
        </p:nvSpPr>
        <p:spPr>
          <a:xfrm>
            <a:off x="18176318" y="3457932"/>
            <a:ext cx="1709380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Selection</a:t>
            </a:r>
            <a:endParaRPr lang="en-US" sz="1650" dirty="0"/>
          </a:p>
        </p:txBody>
      </p:sp>
      <p:sp>
        <p:nvSpPr>
          <p:cNvPr id="10254" name="Text 14"/>
          <p:cNvSpPr/>
          <p:nvPr/>
        </p:nvSpPr>
        <p:spPr>
          <a:xfrm>
            <a:off x="18176318" y="3822621"/>
            <a:ext cx="1709380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7 key environmental variables</a:t>
            </a:r>
            <a:endParaRPr lang="en-US" sz="1250" dirty="0"/>
          </a:p>
        </p:txBody>
      </p:sp>
      <p:sp>
        <p:nvSpPr>
          <p:cNvPr id="10255" name="Shape 15"/>
          <p:cNvSpPr/>
          <p:nvPr/>
        </p:nvSpPr>
        <p:spPr>
          <a:xfrm>
            <a:off x="20138230" y="4992648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10256" name="Shape 16"/>
          <p:cNvSpPr/>
          <p:nvPr/>
        </p:nvSpPr>
        <p:spPr>
          <a:xfrm>
            <a:off x="19966899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257" name="Image 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021429" y="4832330"/>
            <a:ext cx="256461" cy="320635"/>
          </a:xfrm>
          <a:prstGeom prst="rect">
            <a:avLst/>
          </a:prstGeom>
        </p:spPr>
      </p:pic>
      <p:sp>
        <p:nvSpPr>
          <p:cNvPr id="10258" name="Text 17"/>
          <p:cNvSpPr/>
          <p:nvPr/>
        </p:nvSpPr>
        <p:spPr>
          <a:xfrm>
            <a:off x="19295029" y="5642610"/>
            <a:ext cx="1709380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Model Training</a:t>
            </a:r>
            <a:endParaRPr lang="en-US" sz="1650" dirty="0"/>
          </a:p>
        </p:txBody>
      </p:sp>
      <p:sp>
        <p:nvSpPr>
          <p:cNvPr id="10259" name="Text 18"/>
          <p:cNvSpPr/>
          <p:nvPr/>
        </p:nvSpPr>
        <p:spPr>
          <a:xfrm>
            <a:off x="19295029" y="6007298"/>
            <a:ext cx="1709380" cy="260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XGBoost Regressor</a:t>
            </a:r>
            <a:endParaRPr lang="en-US" sz="1250" dirty="0"/>
          </a:p>
        </p:txBody>
      </p:sp>
      <p:sp>
        <p:nvSpPr>
          <p:cNvPr id="10260" name="Shape 19"/>
          <p:cNvSpPr/>
          <p:nvPr/>
        </p:nvSpPr>
        <p:spPr>
          <a:xfrm>
            <a:off x="21256822" y="4505206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10261" name="Shape 20"/>
          <p:cNvSpPr/>
          <p:nvPr/>
        </p:nvSpPr>
        <p:spPr>
          <a:xfrm>
            <a:off x="21085491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262" name="Image 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140021" y="4832330"/>
            <a:ext cx="256461" cy="320635"/>
          </a:xfrm>
          <a:prstGeom prst="rect">
            <a:avLst/>
          </a:prstGeom>
        </p:spPr>
      </p:pic>
      <p:sp>
        <p:nvSpPr>
          <p:cNvPr id="10263" name="Text 21"/>
          <p:cNvSpPr/>
          <p:nvPr/>
        </p:nvSpPr>
        <p:spPr>
          <a:xfrm>
            <a:off x="20413621" y="3190637"/>
            <a:ext cx="1709380" cy="5345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Importance</a:t>
            </a:r>
            <a:endParaRPr lang="en-US" sz="1650" dirty="0"/>
          </a:p>
        </p:txBody>
      </p:sp>
      <p:sp>
        <p:nvSpPr>
          <p:cNvPr id="10264" name="Text 22"/>
          <p:cNvSpPr/>
          <p:nvPr/>
        </p:nvSpPr>
        <p:spPr>
          <a:xfrm>
            <a:off x="20413621" y="3822621"/>
            <a:ext cx="1709380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Understanding key drivers</a:t>
            </a:r>
            <a:endParaRPr lang="en-US" sz="1250" dirty="0"/>
          </a:p>
        </p:txBody>
      </p:sp>
      <p:sp>
        <p:nvSpPr>
          <p:cNvPr id="10265" name="Shape 23"/>
          <p:cNvSpPr/>
          <p:nvPr/>
        </p:nvSpPr>
        <p:spPr>
          <a:xfrm>
            <a:off x="22375533" y="4992648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10266" name="Shape 24"/>
          <p:cNvSpPr/>
          <p:nvPr/>
        </p:nvSpPr>
        <p:spPr>
          <a:xfrm>
            <a:off x="22204202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267" name="Image 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258733" y="4832330"/>
            <a:ext cx="256461" cy="320635"/>
          </a:xfrm>
          <a:prstGeom prst="rect">
            <a:avLst/>
          </a:prstGeom>
        </p:spPr>
      </p:pic>
      <p:sp>
        <p:nvSpPr>
          <p:cNvPr id="10268" name="Text 25"/>
          <p:cNvSpPr/>
          <p:nvPr/>
        </p:nvSpPr>
        <p:spPr>
          <a:xfrm>
            <a:off x="21532332" y="5642610"/>
            <a:ext cx="1709380" cy="5345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Temperature Prediction</a:t>
            </a:r>
            <a:endParaRPr lang="en-US" sz="1650" dirty="0"/>
          </a:p>
        </p:txBody>
      </p:sp>
      <p:sp>
        <p:nvSpPr>
          <p:cNvPr id="10269" name="Text 26"/>
          <p:cNvSpPr/>
          <p:nvPr/>
        </p:nvSpPr>
        <p:spPr>
          <a:xfrm>
            <a:off x="21532332" y="6274594"/>
            <a:ext cx="1709380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Forecasting average temperature</a:t>
            </a:r>
            <a:endParaRPr lang="en-US" sz="1250" dirty="0"/>
          </a:p>
        </p:txBody>
      </p:sp>
      <p:sp>
        <p:nvSpPr>
          <p:cNvPr id="10270" name="Rectangle 10269"/>
          <p:cNvSpPr/>
          <p:nvPr/>
        </p:nvSpPr>
        <p:spPr>
          <a:xfrm>
            <a:off x="22204202" y="7748195"/>
            <a:ext cx="1861402" cy="363071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44709" y="1174909"/>
            <a:ext cx="7627382" cy="10691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System Architecture: How Everything Connects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244709" y="2487811"/>
            <a:ext cx="7627382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Our project follows a streamlined pipeline, transforming raw climate data into actionable insights for temperature prediction.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244709" y="4992648"/>
            <a:ext cx="7627382" cy="22860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6" name="Shape 3"/>
          <p:cNvSpPr/>
          <p:nvPr/>
        </p:nvSpPr>
        <p:spPr>
          <a:xfrm>
            <a:off x="7250311" y="4505206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7" name="Shape 4"/>
          <p:cNvSpPr/>
          <p:nvPr/>
        </p:nvSpPr>
        <p:spPr>
          <a:xfrm>
            <a:off x="7078980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3511" y="4832330"/>
            <a:ext cx="256461" cy="320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7110" y="3717965"/>
            <a:ext cx="1709261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Raw Dataset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407110" y="4082653"/>
            <a:ext cx="1709261" cy="260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CSV from Kaggle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368903" y="4992648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12" name="Shape 8"/>
          <p:cNvSpPr/>
          <p:nvPr/>
        </p:nvSpPr>
        <p:spPr>
          <a:xfrm>
            <a:off x="8197572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103" y="4832330"/>
            <a:ext cx="256461" cy="320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25703" y="5642610"/>
            <a:ext cx="1709380" cy="5345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Data Preprocessing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7525703" y="6274594"/>
            <a:ext cx="1709380" cy="78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Handling missing values, feature scaling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487495" y="4505206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17" name="Shape 12"/>
          <p:cNvSpPr/>
          <p:nvPr/>
        </p:nvSpPr>
        <p:spPr>
          <a:xfrm>
            <a:off x="9316164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695" y="4832330"/>
            <a:ext cx="256461" cy="32063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44295" y="3457932"/>
            <a:ext cx="1709380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Importance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644295" y="3822621"/>
            <a:ext cx="1709380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Linear Regressor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10606207" y="4992648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22" name="Shape 16"/>
          <p:cNvSpPr/>
          <p:nvPr/>
        </p:nvSpPr>
        <p:spPr>
          <a:xfrm>
            <a:off x="10434876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406" y="4832330"/>
            <a:ext cx="256461" cy="32063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763006" y="5642610"/>
            <a:ext cx="1709380" cy="267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Model Training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9763006" y="6007298"/>
            <a:ext cx="1709380" cy="787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ts val="2000"/>
              </a:lnSpc>
            </a:pPr>
            <a:r>
              <a:rPr lang="en-US" sz="1250" dirty="0">
                <a:latin typeface="Montserrat" panose="00000500000000000000" pitchFamily="34" charset="0"/>
              </a:rPr>
              <a:t>Random Forest </a:t>
            </a:r>
            <a:endParaRPr lang="en-US" sz="1250" dirty="0">
              <a:latin typeface="Montserrat" panose="00000500000000000000" pitchFamily="34" charset="0"/>
            </a:endParaRPr>
          </a:p>
          <a:p>
            <a:pPr algn="ctr">
              <a:lnSpc>
                <a:spcPts val="2000"/>
              </a:lnSpc>
            </a:pPr>
            <a:r>
              <a:rPr lang="en-US" sz="1250" dirty="0">
                <a:latin typeface="Montserrat" panose="00000500000000000000" pitchFamily="34" charset="0"/>
              </a:rPr>
              <a:t>LSTM Neural Network</a:t>
            </a:r>
            <a:endParaRPr lang="en-US" sz="1250" dirty="0">
              <a:latin typeface="Montserrat" panose="00000500000000000000" pitchFamily="34" charset="0"/>
            </a:endParaRPr>
          </a:p>
          <a:p>
            <a:pPr algn="ctr">
              <a:lnSpc>
                <a:spcPts val="2000"/>
              </a:lnSpc>
            </a:pPr>
            <a:r>
              <a:rPr lang="en-US" sz="1250" dirty="0">
                <a:latin typeface="Montserrat" panose="00000500000000000000" pitchFamily="34" charset="0"/>
              </a:rPr>
              <a:t>Transformer Model (DL)  </a:t>
            </a:r>
            <a:endParaRPr lang="en-US" sz="1250" dirty="0">
              <a:latin typeface="Montserrat" panose="00000500000000000000" pitchFamily="34" charset="0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11724799" y="4505206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27" name="Shape 20"/>
          <p:cNvSpPr/>
          <p:nvPr/>
        </p:nvSpPr>
        <p:spPr>
          <a:xfrm>
            <a:off x="11553468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7998" y="4832330"/>
            <a:ext cx="256461" cy="32063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881598" y="3190637"/>
            <a:ext cx="1709380" cy="5345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Evaluation &amp; Comparison</a:t>
            </a:r>
            <a:endParaRPr lang="en-US" sz="1650" dirty="0"/>
          </a:p>
        </p:txBody>
      </p:sp>
      <p:sp>
        <p:nvSpPr>
          <p:cNvPr id="30" name="Text 22"/>
          <p:cNvSpPr/>
          <p:nvPr/>
        </p:nvSpPr>
        <p:spPr>
          <a:xfrm>
            <a:off x="10881598" y="3822621"/>
            <a:ext cx="1709380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Understanding key drivers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12843510" y="4992648"/>
            <a:ext cx="22860" cy="487442"/>
          </a:xfrm>
          <a:prstGeom prst="roundRect">
            <a:avLst>
              <a:gd name="adj" fmla="val 1066252"/>
            </a:avLst>
          </a:prstGeom>
          <a:solidFill>
            <a:srgbClr val="BACFDD"/>
          </a:solidFill>
        </p:spPr>
      </p:sp>
      <p:sp>
        <p:nvSpPr>
          <p:cNvPr id="32" name="Shape 24"/>
          <p:cNvSpPr/>
          <p:nvPr/>
        </p:nvSpPr>
        <p:spPr>
          <a:xfrm>
            <a:off x="12672179" y="4809887"/>
            <a:ext cx="365522" cy="365522"/>
          </a:xfrm>
          <a:prstGeom prst="roundRect">
            <a:avLst>
              <a:gd name="adj" fmla="val 6668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6710" y="4832330"/>
            <a:ext cx="256461" cy="32063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2000309" y="5642610"/>
            <a:ext cx="1709380" cy="5345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Temperature Prediction</a:t>
            </a:r>
            <a:endParaRPr lang="en-US" sz="1650" dirty="0"/>
          </a:p>
        </p:txBody>
      </p:sp>
      <p:sp>
        <p:nvSpPr>
          <p:cNvPr id="35" name="Text 26"/>
          <p:cNvSpPr/>
          <p:nvPr/>
        </p:nvSpPr>
        <p:spPr>
          <a:xfrm>
            <a:off x="12000309" y="6274594"/>
            <a:ext cx="1709380" cy="52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Forecasting average temperature</a:t>
            </a:r>
            <a:endParaRPr lang="en-US" sz="1250" dirty="0"/>
          </a:p>
        </p:txBody>
      </p:sp>
      <p:pic>
        <p:nvPicPr>
          <p:cNvPr id="12290" name="Picture 2" descr="How To Read Clouds | BoatU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41" r="-1"/>
          <a:stretch>
            <a:fillRect/>
          </a:stretch>
        </p:blipFill>
        <p:spPr bwMode="auto">
          <a:xfrm>
            <a:off x="1071" y="-12026"/>
            <a:ext cx="4863465" cy="8241626"/>
          </a:xfrm>
          <a:prstGeom prst="flowChartDelay">
            <a:avLst/>
          </a:prstGeom>
          <a:pattFill prst="pct5">
            <a:fgClr>
              <a:srgbClr val="F2F2F2"/>
            </a:fgClr>
            <a:bgClr>
              <a:schemeClr val="bg1"/>
            </a:bgClr>
          </a:pattFill>
        </p:spPr>
      </p:pic>
      <p:sp>
        <p:nvSpPr>
          <p:cNvPr id="37" name="Rectangle 36"/>
          <p:cNvSpPr/>
          <p:nvPr/>
        </p:nvSpPr>
        <p:spPr>
          <a:xfrm>
            <a:off x="12672179" y="7748195"/>
            <a:ext cx="1861402" cy="363071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 1"/>
          <p:cNvSpPr/>
          <p:nvPr/>
        </p:nvSpPr>
        <p:spPr>
          <a:xfrm>
            <a:off x="751284" y="-11829217"/>
            <a:ext cx="8951357" cy="4589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3600"/>
              </a:lnSpc>
            </a:pPr>
            <a:r>
              <a:rPr lang="en-US" sz="2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Model Implementation – Building the </a:t>
            </a:r>
            <a:r>
              <a:rPr lang="en-IN" sz="2850" dirty="0">
                <a:latin typeface="Barlow Bold" panose="00000800000000000000" pitchFamily="34" charset="0"/>
              </a:rPr>
              <a:t>multi-model regression system</a:t>
            </a:r>
            <a:endParaRPr lang="en-US" sz="2850" dirty="0">
              <a:latin typeface="Barlow Bold" panose="00000800000000000000" pitchFamily="34" charset="0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751284" y="-11161039"/>
            <a:ext cx="13127831" cy="4814877"/>
          </a:xfrm>
          <a:prstGeom prst="roundRect">
            <a:avLst>
              <a:gd name="adj" fmla="val 5078"/>
            </a:avLst>
          </a:prstGeom>
          <a:solidFill>
            <a:srgbClr val="B6D6FC"/>
          </a:solidFill>
        </p:spPr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707" y="-10964704"/>
            <a:ext cx="229433" cy="183594"/>
          </a:xfrm>
          <a:prstGeom prst="rect">
            <a:avLst/>
          </a:prstGeom>
        </p:spPr>
      </p:pic>
      <p:sp>
        <p:nvSpPr>
          <p:cNvPr id="41" name="Text 3"/>
          <p:cNvSpPr/>
          <p:nvPr/>
        </p:nvSpPr>
        <p:spPr>
          <a:xfrm>
            <a:off x="1259562" y="-10986849"/>
            <a:ext cx="2090261" cy="2294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Core Model Code Snippet:</a:t>
            </a:r>
            <a:endParaRPr lang="en-US" sz="1400" dirty="0"/>
          </a:p>
        </p:txBody>
      </p:sp>
      <p:sp>
        <p:nvSpPr>
          <p:cNvPr id="42" name="Shape 5"/>
          <p:cNvSpPr/>
          <p:nvPr/>
        </p:nvSpPr>
        <p:spPr>
          <a:xfrm>
            <a:off x="1252657" y="-10600492"/>
            <a:ext cx="12493943" cy="4136470"/>
          </a:xfrm>
          <a:prstGeom prst="roundRect">
            <a:avLst>
              <a:gd name="adj" fmla="val 628"/>
            </a:avLst>
          </a:prstGeom>
          <a:solidFill>
            <a:srgbClr val="D4E9F7"/>
          </a:solidFill>
        </p:spPr>
      </p:sp>
      <p:sp>
        <p:nvSpPr>
          <p:cNvPr id="43" name="Text 6"/>
          <p:cNvSpPr/>
          <p:nvPr/>
        </p:nvSpPr>
        <p:spPr>
          <a:xfrm>
            <a:off x="1392079" y="-10495955"/>
            <a:ext cx="12215098" cy="40319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X, y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df.iloc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[:, 1:-1].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fillna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df.mean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()),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df.iloc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[:, -1]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sklearn.model_selection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train_test_split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sklearn.ensemble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RandomForestRegressor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as RF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sklearn.preprocessing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StandardScaler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sklearn.metrics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mean_squared_error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as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mse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mean_absolute_error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as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mae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tensorflow.keras.models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Sequential, Model; 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tensorflow.keras.layers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*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numpy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as np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StandardScaler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().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fit_transform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(X);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Xv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yv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train_test_split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(X, y,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test_size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=0.2)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Xt3d, Xv3d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[:,None,:],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Xv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[:,None,:]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 = RF().fit(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lstm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Sequential([LSTM(64,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input_shape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=(1,X.shape[1])), Dropout(0.2), Dense(1)])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lstm.compile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('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adam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','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mse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');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lstm.fit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(Xt3d,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epochs=20, verbose=0)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Input((1,X.shape[1])); x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MultiHeadAttention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(2,4)(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inp,inp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x = LayerNormalization()(x)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= Dense(64,'relu')(x); x = Dropout(0.2)(x); out = Dense(1)(x)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 = Model(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out);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trans.compile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('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adam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','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mse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');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trans.fit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(Xt3d,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epochs=20, verbose=0)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n, p in zip(['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RF','LSTM','Trans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'], [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rf.predict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Xv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lstm.predict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(Xv3d).ravel(),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trans.predict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(Xv3d).ravel()]): 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print(f'{n} RMSE:{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np.sqrt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mse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yv,p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)):.2f} MAE:{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yv,p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):.2f}')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24" y="16993470"/>
            <a:ext cx="4282916" cy="60960"/>
          </a:xfrm>
          <a:prstGeom prst="rect">
            <a:avLst/>
          </a:prstGeom>
        </p:spPr>
      </p:pic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3490" y="16082328"/>
            <a:ext cx="418505" cy="418505"/>
          </a:xfrm>
          <a:prstGeom prst="rect">
            <a:avLst/>
          </a:prstGeom>
        </p:spPr>
      </p:pic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8982" y="16904612"/>
            <a:ext cx="167402" cy="209193"/>
          </a:xfrm>
          <a:prstGeom prst="rect">
            <a:avLst/>
          </a:prstGeom>
        </p:spPr>
      </p:pic>
      <p:sp>
        <p:nvSpPr>
          <p:cNvPr id="47" name="Text 7"/>
          <p:cNvSpPr/>
          <p:nvPr/>
        </p:nvSpPr>
        <p:spPr>
          <a:xfrm>
            <a:off x="905947" y="17103246"/>
            <a:ext cx="1835944" cy="2294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Multi-model Regression System</a:t>
            </a:r>
            <a:endParaRPr lang="en-US" sz="1400" dirty="0"/>
          </a:p>
        </p:txBody>
      </p:sp>
      <p:sp>
        <p:nvSpPr>
          <p:cNvPr id="48" name="Text 8"/>
          <p:cNvSpPr/>
          <p:nvPr/>
        </p:nvSpPr>
        <p:spPr>
          <a:xfrm>
            <a:off x="905947" y="17408687"/>
            <a:ext cx="3973592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Our chosen model for accurate temperature prediction.</a:t>
            </a:r>
            <a:endParaRPr lang="en-US" sz="1050" dirty="0"/>
          </a:p>
        </p:txBody>
      </p:sp>
      <p:sp>
        <p:nvSpPr>
          <p:cNvPr id="49" name="Text 9"/>
          <p:cNvSpPr/>
          <p:nvPr/>
        </p:nvSpPr>
        <p:spPr>
          <a:xfrm>
            <a:off x="905947" y="17715631"/>
            <a:ext cx="3973592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IN" sz="1050" dirty="0"/>
              <a:t>Multi-Model Comparison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</a:t>
            </a:r>
            <a:endParaRPr lang="en-US" sz="1050" dirty="0"/>
          </a:p>
        </p:txBody>
      </p:sp>
      <p:sp>
        <p:nvSpPr>
          <p:cNvPr id="50" name="Text 10"/>
          <p:cNvSpPr/>
          <p:nvPr/>
        </p:nvSpPr>
        <p:spPr>
          <a:xfrm>
            <a:off x="905947" y="17987688"/>
            <a:ext cx="3973592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IN" sz="1050" dirty="0"/>
              <a:t>Feature-Rich &amp; Scalable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</a:t>
            </a:r>
            <a:endParaRPr lang="en-US" sz="1050" dirty="0"/>
          </a:p>
        </p:txBody>
      </p:sp>
      <p:sp>
        <p:nvSpPr>
          <p:cNvPr id="51" name="Text 11"/>
          <p:cNvSpPr/>
          <p:nvPr/>
        </p:nvSpPr>
        <p:spPr>
          <a:xfrm>
            <a:off x="905947" y="18259746"/>
            <a:ext cx="3973592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IN" sz="1050" b="1" dirty="0"/>
              <a:t>Robust Evaluation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</a:t>
            </a:r>
            <a:endParaRPr lang="en-US" sz="1050" dirty="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3623" y="16993470"/>
            <a:ext cx="4283035" cy="60960"/>
          </a:xfrm>
          <a:prstGeom prst="rect">
            <a:avLst/>
          </a:prstGeom>
        </p:spPr>
      </p:pic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5829" y="16082328"/>
            <a:ext cx="418505" cy="418505"/>
          </a:xfrm>
          <a:prstGeom prst="rect">
            <a:avLst/>
          </a:prstGeom>
        </p:spPr>
      </p:pic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1320" y="16893040"/>
            <a:ext cx="167402" cy="209193"/>
          </a:xfrm>
          <a:prstGeom prst="rect">
            <a:avLst/>
          </a:prstGeom>
        </p:spPr>
      </p:pic>
      <p:sp>
        <p:nvSpPr>
          <p:cNvPr id="55" name="Text 12"/>
          <p:cNvSpPr/>
          <p:nvPr/>
        </p:nvSpPr>
        <p:spPr>
          <a:xfrm>
            <a:off x="5328285" y="17103246"/>
            <a:ext cx="2100501" cy="2294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Implementation Workflow</a:t>
            </a:r>
            <a:endParaRPr lang="en-US" sz="1400" dirty="0"/>
          </a:p>
        </p:txBody>
      </p:sp>
      <p:sp>
        <p:nvSpPr>
          <p:cNvPr id="56" name="Text 13"/>
          <p:cNvSpPr/>
          <p:nvPr/>
        </p:nvSpPr>
        <p:spPr>
          <a:xfrm>
            <a:off x="5328285" y="17408687"/>
            <a:ext cx="3973711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Input: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Preprocessed &amp; scaled climate features.</a:t>
            </a:r>
            <a:endParaRPr lang="en-US" sz="1050" dirty="0"/>
          </a:p>
        </p:txBody>
      </p:sp>
      <p:sp>
        <p:nvSpPr>
          <p:cNvPr id="57" name="Text 14"/>
          <p:cNvSpPr/>
          <p:nvPr/>
        </p:nvSpPr>
        <p:spPr>
          <a:xfrm>
            <a:off x="5328285" y="17715631"/>
            <a:ext cx="3973711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Output: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Predicted average temperature (°C).</a:t>
            </a:r>
            <a:endParaRPr lang="en-US" sz="1050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9662" y="16993466"/>
            <a:ext cx="4283035" cy="60960"/>
          </a:xfrm>
          <a:prstGeom prst="rect">
            <a:avLst/>
          </a:prstGeom>
        </p:spPr>
      </p:pic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8286" y="16082328"/>
            <a:ext cx="418505" cy="418505"/>
          </a:xfrm>
          <a:prstGeom prst="rect">
            <a:avLst/>
          </a:prstGeom>
        </p:spPr>
      </p:pic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53778" y="16881471"/>
            <a:ext cx="167402" cy="209193"/>
          </a:xfrm>
          <a:prstGeom prst="rect">
            <a:avLst/>
          </a:prstGeom>
        </p:spPr>
      </p:pic>
      <p:sp>
        <p:nvSpPr>
          <p:cNvPr id="61" name="Text 15"/>
          <p:cNvSpPr/>
          <p:nvPr/>
        </p:nvSpPr>
        <p:spPr>
          <a:xfrm>
            <a:off x="9750743" y="17103246"/>
            <a:ext cx="2090618" cy="2294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Training &amp; Interpretability</a:t>
            </a:r>
            <a:endParaRPr lang="en-US" sz="1400" dirty="0"/>
          </a:p>
        </p:txBody>
      </p:sp>
      <p:sp>
        <p:nvSpPr>
          <p:cNvPr id="62" name="Text 16"/>
          <p:cNvSpPr/>
          <p:nvPr/>
        </p:nvSpPr>
        <p:spPr>
          <a:xfrm>
            <a:off x="9750743" y="17408687"/>
            <a:ext cx="3973711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Model trained on the </a:t>
            </a:r>
            <a:r>
              <a:rPr lang="en-US" sz="10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full 7-variable feature set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</a:t>
            </a:r>
            <a:endParaRPr lang="en-US" sz="1050" dirty="0"/>
          </a:p>
        </p:txBody>
      </p:sp>
      <p:sp>
        <p:nvSpPr>
          <p:cNvPr id="63" name="Text 17"/>
          <p:cNvSpPr/>
          <p:nvPr/>
        </p:nvSpPr>
        <p:spPr>
          <a:xfrm>
            <a:off x="9750743" y="17715631"/>
            <a:ext cx="3973711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Achieves </a:t>
            </a:r>
            <a:r>
              <a:rPr lang="en-US" sz="10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fast training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and high interpretability.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FCBF8">
              <a:alpha val="85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751284" y="591383"/>
            <a:ext cx="8951357" cy="4589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3600"/>
              </a:lnSpc>
            </a:pPr>
            <a:r>
              <a:rPr lang="en-US" sz="28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Model Implementation – Building the </a:t>
            </a:r>
            <a:r>
              <a:rPr lang="en-IN" sz="2850" dirty="0">
                <a:latin typeface="Barlow Bold" panose="00000800000000000000" pitchFamily="34" charset="0"/>
              </a:rPr>
              <a:t>multi-model regression system</a:t>
            </a:r>
            <a:endParaRPr lang="en-US" sz="2850" dirty="0">
              <a:latin typeface="Barlow Bold" panose="00000800000000000000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51284" y="1259561"/>
            <a:ext cx="13127831" cy="4814877"/>
          </a:xfrm>
          <a:prstGeom prst="roundRect">
            <a:avLst>
              <a:gd name="adj" fmla="val 5078"/>
            </a:avLst>
          </a:prstGeom>
          <a:solidFill>
            <a:srgbClr val="B6D6FC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07" y="1455896"/>
            <a:ext cx="229433" cy="183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9562" y="1433751"/>
            <a:ext cx="2090261" cy="2294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Core Model Code Snippet: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259562" y="1820108"/>
            <a:ext cx="12480131" cy="3334464"/>
          </a:xfrm>
          <a:prstGeom prst="roundRect">
            <a:avLst>
              <a:gd name="adj" fmla="val 6277"/>
            </a:avLst>
          </a:prstGeom>
          <a:solidFill>
            <a:srgbClr val="D4E9F7"/>
          </a:solidFill>
        </p:spPr>
      </p:sp>
      <p:sp>
        <p:nvSpPr>
          <p:cNvPr id="9" name="Shape 5"/>
          <p:cNvSpPr/>
          <p:nvPr/>
        </p:nvSpPr>
        <p:spPr>
          <a:xfrm>
            <a:off x="1252657" y="1820108"/>
            <a:ext cx="12493943" cy="4136470"/>
          </a:xfrm>
          <a:prstGeom prst="roundRect">
            <a:avLst>
              <a:gd name="adj" fmla="val 628"/>
            </a:avLst>
          </a:prstGeom>
          <a:solidFill>
            <a:srgbClr val="D4E9F7"/>
          </a:solidFill>
        </p:spPr>
      </p:sp>
      <p:sp>
        <p:nvSpPr>
          <p:cNvPr id="10" name="Text 6"/>
          <p:cNvSpPr/>
          <p:nvPr/>
        </p:nvSpPr>
        <p:spPr>
          <a:xfrm>
            <a:off x="1392079" y="1924645"/>
            <a:ext cx="12215098" cy="40319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X, y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df.iloc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[:, 1:-1].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fillna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df.mean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()),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df.iloc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[:, -1]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sklearn.model_selection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train_test_split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sklearn.ensemble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RandomForestRegressor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as RF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sklearn.preprocessing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StandardScaler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sklearn.metrics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mean_squared_error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as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mse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mean_absolute_error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as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mae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tensorflow.keras.models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Sequential, Model; from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tensorflow.keras.layers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import *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numpy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as np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StandardScaler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().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fit_transform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(X);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Xv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yv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train_test_split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(X, y,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test_size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=0.2)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Xt3d, Xv3d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[:,None,:],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Xv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[:,None,:]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 = RF().fit(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lstm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Sequential([LSTM(64,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input_shape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=(1,X.shape[1])), Dropout(0.2), Dense(1)])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lstm.compile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('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adam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','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mse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');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lstm.fit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(Xt3d,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epochs=20, verbose=0)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Input((1,X.shape[1])); x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MultiHeadAttention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(2,4)(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inp,inp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 x = LayerNormalization()(x)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= Dense(64,'relu')(x); x = Dropout(0.2)(x); out = Dense(1)(x)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 = Model(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out);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trans.compile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('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adam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','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mse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');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trans.fit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(Xt3d,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epochs=20, verbose=0)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n, p in zip(['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RF','LSTM','Trans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'], [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rf.predict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Xv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lstm.predict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(Xv3d).ravel(),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trans.predict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(Xv3d).ravel()]): 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>
              <a:lnSpc>
                <a:spcPts val="175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print(f'{n} RMSE:{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np.sqrt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mse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yv,p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)):.2f} MAE:{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yv,p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):.2f}')</a:t>
            </a:r>
            <a:endParaRPr lang="en-US" sz="1050" dirty="0">
              <a:solidFill>
                <a:srgbClr val="000000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24" y="6449215"/>
            <a:ext cx="4282916" cy="6096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490" y="5538073"/>
            <a:ext cx="418505" cy="41850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982" y="6360357"/>
            <a:ext cx="167402" cy="20919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5947" y="6558991"/>
            <a:ext cx="1835944" cy="2294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Multi-model Regression System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905947" y="6864432"/>
            <a:ext cx="3973592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Our chosen model for accurate temperature prediction.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905947" y="7171376"/>
            <a:ext cx="3973592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IN" sz="1050" dirty="0"/>
              <a:t>Multi-Model Comparison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905947" y="7443433"/>
            <a:ext cx="3973592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IN" sz="1050" dirty="0"/>
              <a:t>Feature-Rich &amp; Scalable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905947" y="7715491"/>
            <a:ext cx="3973592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IN" sz="1050" b="1" dirty="0"/>
              <a:t>Robust Evaluation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623" y="6449215"/>
            <a:ext cx="4283035" cy="60960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829" y="5538073"/>
            <a:ext cx="418505" cy="418505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1320" y="6348785"/>
            <a:ext cx="167402" cy="20919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328285" y="6558991"/>
            <a:ext cx="2100501" cy="2294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Implementation Workflow</a:t>
            </a:r>
            <a:endParaRPr lang="en-US" sz="1400" dirty="0"/>
          </a:p>
        </p:txBody>
      </p:sp>
      <p:sp>
        <p:nvSpPr>
          <p:cNvPr id="23" name="Text 13"/>
          <p:cNvSpPr/>
          <p:nvPr/>
        </p:nvSpPr>
        <p:spPr>
          <a:xfrm>
            <a:off x="5328285" y="6864432"/>
            <a:ext cx="3973711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Input: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Preprocessed &amp; scaled climate features.</a:t>
            </a:r>
            <a:endParaRPr lang="en-US" sz="1050" dirty="0"/>
          </a:p>
        </p:txBody>
      </p:sp>
      <p:sp>
        <p:nvSpPr>
          <p:cNvPr id="24" name="Text 14"/>
          <p:cNvSpPr/>
          <p:nvPr/>
        </p:nvSpPr>
        <p:spPr>
          <a:xfrm>
            <a:off x="5328285" y="7171376"/>
            <a:ext cx="3973711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Output: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Predicted average temperature (°C).</a:t>
            </a:r>
            <a:endParaRPr lang="en-US" sz="10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662" y="6449211"/>
            <a:ext cx="4283035" cy="60960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8286" y="5538073"/>
            <a:ext cx="418505" cy="418505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53778" y="6337216"/>
            <a:ext cx="167402" cy="209193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9750743" y="6558991"/>
            <a:ext cx="2090618" cy="2294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Training &amp; Interpretability</a:t>
            </a:r>
            <a:endParaRPr lang="en-US" sz="1400" dirty="0"/>
          </a:p>
        </p:txBody>
      </p:sp>
      <p:sp>
        <p:nvSpPr>
          <p:cNvPr id="29" name="Text 16"/>
          <p:cNvSpPr/>
          <p:nvPr/>
        </p:nvSpPr>
        <p:spPr>
          <a:xfrm>
            <a:off x="9750743" y="6864432"/>
            <a:ext cx="3973711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Model trained on the </a:t>
            </a:r>
            <a:r>
              <a:rPr lang="en-US" sz="10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full 7-variable feature set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</a:t>
            </a:r>
            <a:endParaRPr lang="en-US" sz="1050" dirty="0"/>
          </a:p>
        </p:txBody>
      </p:sp>
      <p:sp>
        <p:nvSpPr>
          <p:cNvPr id="30" name="Text 17"/>
          <p:cNvSpPr/>
          <p:nvPr/>
        </p:nvSpPr>
        <p:spPr>
          <a:xfrm>
            <a:off x="9750743" y="7171376"/>
            <a:ext cx="3973711" cy="441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Achieves </a:t>
            </a:r>
            <a:r>
              <a:rPr lang="en-US" sz="10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fast training</a:t>
            </a:r>
            <a:r>
              <a:rPr lang="en-US" sz="10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and high interpretability.</a:t>
            </a:r>
            <a:endParaRPr lang="en-US" sz="1050" dirty="0"/>
          </a:p>
        </p:txBody>
      </p:sp>
      <p:sp>
        <p:nvSpPr>
          <p:cNvPr id="112" name="Text 1"/>
          <p:cNvSpPr/>
          <p:nvPr/>
        </p:nvSpPr>
        <p:spPr>
          <a:xfrm>
            <a:off x="-12437149" y="616387"/>
            <a:ext cx="11353800" cy="570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Importance – What Drives Temperature Change?</a:t>
            </a:r>
            <a:endParaRPr lang="en-US" sz="3550" dirty="0"/>
          </a:p>
        </p:txBody>
      </p:sp>
      <p:sp>
        <p:nvSpPr>
          <p:cNvPr id="113" name="Text 2"/>
          <p:cNvSpPr/>
          <p:nvPr/>
        </p:nvSpPr>
        <p:spPr>
          <a:xfrm>
            <a:off x="-12437149" y="1619607"/>
            <a:ext cx="3328035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Understanding Our Model's Focus</a:t>
            </a:r>
            <a:endParaRPr lang="en-US" sz="1750" dirty="0"/>
          </a:p>
        </p:txBody>
      </p:sp>
      <p:sp>
        <p:nvSpPr>
          <p:cNvPr id="114" name="Text 3"/>
          <p:cNvSpPr/>
          <p:nvPr/>
        </p:nvSpPr>
        <p:spPr>
          <a:xfrm>
            <a:off x="-12437149" y="2077998"/>
            <a:ext cx="7022187" cy="5545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After training, our Multi-model Regression System</a:t>
            </a:r>
            <a:endParaRPr lang="en-US" sz="1350" dirty="0">
              <a:solidFill>
                <a:srgbClr val="384653"/>
              </a:solidFill>
              <a:latin typeface="Montserrat" panose="00000500000000000000" pitchFamily="34" charset="0"/>
              <a:ea typeface="Montserrat" panose="00000500000000000000" pitchFamily="34" charset="-122"/>
              <a:cs typeface="Montserrat" panose="00000500000000000000" pitchFamily="34" charset="-120"/>
            </a:endParaRP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provides insights into which features most influenced its temperature predictions.</a:t>
            </a:r>
            <a:endParaRPr lang="en-US" sz="1350" dirty="0"/>
          </a:p>
        </p:txBody>
      </p:sp>
      <p:pic>
        <p:nvPicPr>
          <p:cNvPr id="115" name="Image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460299" y="3093714"/>
            <a:ext cx="433268" cy="433268"/>
          </a:xfrm>
          <a:prstGeom prst="rect">
            <a:avLst/>
          </a:prstGeom>
        </p:spPr>
      </p:pic>
      <p:sp>
        <p:nvSpPr>
          <p:cNvPr id="116" name="Text 4"/>
          <p:cNvSpPr/>
          <p:nvPr/>
        </p:nvSpPr>
        <p:spPr>
          <a:xfrm>
            <a:off x="-11810456" y="3196584"/>
            <a:ext cx="2280642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CO₂ Emissions</a:t>
            </a:r>
            <a:endParaRPr lang="en-US" sz="1750" dirty="0"/>
          </a:p>
        </p:txBody>
      </p:sp>
      <p:sp>
        <p:nvSpPr>
          <p:cNvPr id="117" name="Text 5"/>
          <p:cNvSpPr/>
          <p:nvPr/>
        </p:nvSpPr>
        <p:spPr>
          <a:xfrm>
            <a:off x="-11810456" y="3654975"/>
            <a:ext cx="6372344" cy="2772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Tons/Capita: The </a:t>
            </a:r>
            <a:r>
              <a:rPr lang="en-US" sz="1350" b="1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most significant</a:t>
            </a: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driver of temperature change.</a:t>
            </a:r>
            <a:endParaRPr lang="en-US" sz="1350" dirty="0"/>
          </a:p>
        </p:txBody>
      </p:sp>
      <p:pic>
        <p:nvPicPr>
          <p:cNvPr id="118" name="Image 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2460299" y="4365540"/>
            <a:ext cx="433268" cy="433268"/>
          </a:xfrm>
          <a:prstGeom prst="rect">
            <a:avLst/>
          </a:prstGeom>
        </p:spPr>
      </p:pic>
      <p:sp>
        <p:nvSpPr>
          <p:cNvPr id="119" name="Text 6"/>
          <p:cNvSpPr/>
          <p:nvPr/>
        </p:nvSpPr>
        <p:spPr>
          <a:xfrm>
            <a:off x="-11810456" y="4468410"/>
            <a:ext cx="2280642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Forest Area</a:t>
            </a:r>
            <a:endParaRPr lang="en-US" sz="1750" dirty="0"/>
          </a:p>
        </p:txBody>
      </p:sp>
      <p:sp>
        <p:nvSpPr>
          <p:cNvPr id="120" name="Text 7"/>
          <p:cNvSpPr/>
          <p:nvPr/>
        </p:nvSpPr>
        <p:spPr>
          <a:xfrm>
            <a:off x="-11810456" y="4926800"/>
            <a:ext cx="6372344" cy="2772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Percentage: Key for carbon absorption and climate regulation.</a:t>
            </a:r>
            <a:endParaRPr lang="en-US" sz="1350" dirty="0"/>
          </a:p>
        </p:txBody>
      </p:sp>
      <p:pic>
        <p:nvPicPr>
          <p:cNvPr id="121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2460299" y="5637366"/>
            <a:ext cx="433268" cy="433268"/>
          </a:xfrm>
          <a:prstGeom prst="rect">
            <a:avLst/>
          </a:prstGeom>
        </p:spPr>
      </p:pic>
      <p:sp>
        <p:nvSpPr>
          <p:cNvPr id="122" name="Text 8"/>
          <p:cNvSpPr/>
          <p:nvPr/>
        </p:nvSpPr>
        <p:spPr>
          <a:xfrm>
            <a:off x="-11810456" y="5740236"/>
            <a:ext cx="2280642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Sea Level Rise</a:t>
            </a:r>
            <a:endParaRPr lang="en-US" sz="1750" dirty="0"/>
          </a:p>
        </p:txBody>
      </p:sp>
      <p:sp>
        <p:nvSpPr>
          <p:cNvPr id="123" name="Text 9"/>
          <p:cNvSpPr/>
          <p:nvPr/>
        </p:nvSpPr>
        <p:spPr>
          <a:xfrm>
            <a:off x="-11810456" y="6198626"/>
            <a:ext cx="6372344" cy="2772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Millimeters: Indicative of broader climate shifts.</a:t>
            </a:r>
            <a:endParaRPr lang="en-US" sz="1350" dirty="0"/>
          </a:p>
        </p:txBody>
      </p:sp>
      <p:sp>
        <p:nvSpPr>
          <p:cNvPr id="124" name="Shape 10"/>
          <p:cNvSpPr/>
          <p:nvPr/>
        </p:nvSpPr>
        <p:spPr>
          <a:xfrm>
            <a:off x="-12460299" y="6670828"/>
            <a:ext cx="7022187" cy="1013579"/>
          </a:xfrm>
          <a:prstGeom prst="roundRect">
            <a:avLst>
              <a:gd name="adj" fmla="val 25651"/>
            </a:avLst>
          </a:prstGeom>
          <a:solidFill>
            <a:srgbClr val="BEDFF3"/>
          </a:solidFill>
        </p:spPr>
      </p:sp>
      <p:pic>
        <p:nvPicPr>
          <p:cNvPr id="125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2287063" y="6933718"/>
            <a:ext cx="216575" cy="173236"/>
          </a:xfrm>
          <a:prstGeom prst="rect">
            <a:avLst/>
          </a:prstGeom>
        </p:spPr>
      </p:pic>
      <p:sp>
        <p:nvSpPr>
          <p:cNvPr id="126" name="Text 11"/>
          <p:cNvSpPr/>
          <p:nvPr/>
        </p:nvSpPr>
        <p:spPr>
          <a:xfrm>
            <a:off x="-11897252" y="6887284"/>
            <a:ext cx="6285905" cy="5545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Understanding which variables most affect temperature helps inform </a:t>
            </a:r>
            <a:r>
              <a:rPr lang="en-US" sz="13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climate policy</a:t>
            </a:r>
            <a:r>
              <a:rPr lang="en-US" sz="13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and </a:t>
            </a:r>
            <a:r>
              <a:rPr lang="en-US" sz="13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risk prediction</a:t>
            </a:r>
            <a:r>
              <a:rPr lang="en-US" sz="13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</a:t>
            </a:r>
            <a:endParaRPr lang="en-US" sz="1350" dirty="0"/>
          </a:p>
        </p:txBody>
      </p:sp>
      <p:pic>
        <p:nvPicPr>
          <p:cNvPr id="127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812" b="98925" l="67" r="99597">
                        <a14:foregroundMark x1="77083" y1="29839" x2="86156" y2="29973"/>
                        <a14:foregroundMark x1="86156" y1="29973" x2="90188" y2="35349"/>
                        <a14:foregroundMark x1="77083" y1="32930" x2="71640" y2="45094"/>
                        <a14:foregroundMark x1="71640" y1="45094" x2="80914" y2="44825"/>
                        <a14:foregroundMark x1="80914" y1="44825" x2="80780" y2="41667"/>
                        <a14:foregroundMark x1="83401" y1="51075" x2="82997" y2="79234"/>
                        <a14:foregroundMark x1="76882" y1="50874" x2="65457" y2="68011"/>
                        <a14:foregroundMark x1="24963" y1="91253" x2="24147" y2="94160"/>
                        <a14:foregroundMark x1="57541" y1="89925" x2="59220" y2="93695"/>
                        <a14:foregroundMark x1="55444" y1="85215" x2="56546" y2="87691"/>
                        <a14:foregroundMark x1="80175" y1="62500" x2="76637" y2="92147"/>
                        <a14:foregroundMark x1="69960" y1="81116" x2="94355" y2="87164"/>
                        <a14:foregroundMark x1="94355" y1="87164" x2="95699" y2="87030"/>
                        <a14:foregroundMark x1="3986" y1="67715" x2="6673" y2="91329"/>
                        <a14:foregroundMark x1="21446" y1="93461" x2="28359" y2="93990"/>
                        <a14:foregroundMark x1="13583" y1="92859" x2="19882" y2="93341"/>
                        <a14:foregroundMark x1="72717" y1="92171" x2="94892" y2="89987"/>
                        <a14:foregroundMark x1="56796" y1="93738" x2="62771" y2="93150"/>
                        <a14:foregroundMark x1="94892" y1="89987" x2="48992" y2="82796"/>
                        <a14:foregroundMark x1="48992" y1="82796" x2="33065" y2="56384"/>
                        <a14:foregroundMark x1="33065" y1="56384" x2="35081" y2="43347"/>
                        <a14:foregroundMark x1="35081" y1="43347" x2="48118" y2="55645"/>
                        <a14:foregroundMark x1="48118" y1="55645" x2="22917" y2="52621"/>
                        <a14:foregroundMark x1="22917" y1="52621" x2="20363" y2="49261"/>
                        <a14:foregroundMark x1="1344" y1="73320" x2="11559" y2="75605"/>
                        <a14:foregroundMark x1="18683" y1="36828" x2="30981" y2="43011"/>
                        <a14:foregroundMark x1="30981" y1="43011" x2="48858" y2="42876"/>
                        <a14:foregroundMark x1="48858" y1="42876" x2="57997" y2="60954"/>
                        <a14:foregroundMark x1="57997" y1="60954" x2="57527" y2="64180"/>
                        <a14:foregroundMark x1="36694" y1="37836" x2="52083" y2="39919"/>
                        <a14:foregroundMark x1="52083" y1="39919" x2="64785" y2="46573"/>
                        <a14:foregroundMark x1="64785" y1="46573" x2="61089" y2="65995"/>
                        <a14:foregroundMark x1="61089" y1="65995" x2="54435" y2="59946"/>
                        <a14:foregroundMark x1="54435" y1="59946" x2="54435" y2="60282"/>
                        <a14:foregroundMark x1="37298" y1="41465" x2="46169" y2="50941"/>
                        <a14:foregroundMark x1="46169" y1="50941" x2="53024" y2="64180"/>
                        <a14:foregroundMark x1="84274" y1="82930" x2="99597" y2="83333"/>
                        <a14:foregroundMark x1="134" y1="98858" x2="134" y2="97849"/>
                        <a14:foregroundMark x1="23790" y1="34946" x2="18817" y2="51478"/>
                        <a14:foregroundMark x1="18817" y1="51478" x2="18616" y2="65323"/>
                        <a14:foregroundMark x1="18616" y1="65323" x2="40121" y2="58737"/>
                        <a14:foregroundMark x1="40121" y1="58737" x2="34274" y2="48185"/>
                        <a14:foregroundMark x1="34274" y1="48185" x2="27016" y2="52688"/>
                        <a14:foregroundMark x1="27016" y1="52688" x2="42070" y2="54839"/>
                        <a14:foregroundMark x1="42070" y1="54839" x2="44825" y2="54167"/>
                        <a14:foregroundMark x1="39718" y1="53763" x2="54637" y2="45833"/>
                        <a14:foregroundMark x1="54637" y1="45833" x2="56048" y2="46169"/>
                        <a14:foregroundMark x1="56452" y1="46169" x2="46438" y2="47446"/>
                        <a14:foregroundMark x1="46438" y1="47446" x2="36425" y2="52016"/>
                        <a14:foregroundMark x1="36425" y1="52016" x2="32594" y2="55376"/>
                        <a14:foregroundMark x1="4030" y1="67717" x2="2755" y2="71505"/>
                        <a14:foregroundMark x1="13274" y1="67928" x2="34476" y2="70228"/>
                        <a14:foregroundMark x1="11559" y1="67742" x2="12922" y2="67890"/>
                        <a14:foregroundMark x1="34476" y1="70228" x2="45497" y2="79368"/>
                        <a14:foregroundMark x1="24121" y1="91300" x2="22984" y2="91935"/>
                        <a14:foregroundMark x1="45497" y1="79368" x2="28800" y2="88688"/>
                        <a14:foregroundMark x1="21823" y1="91538" x2="5511" y2="85954"/>
                        <a14:foregroundMark x1="5511" y1="85954" x2="28965" y2="73522"/>
                        <a14:foregroundMark x1="28965" y1="73522" x2="18078" y2="88239"/>
                        <a14:foregroundMark x1="8944" y1="93664" x2="6621" y2="95044"/>
                        <a14:foregroundMark x1="18078" y1="88239" x2="11775" y2="91983"/>
                        <a14:foregroundMark x1="16806" y1="97126" x2="18980" y2="97312"/>
                        <a14:foregroundMark x1="15643" y1="97026" x2="15933" y2="97051"/>
                        <a14:foregroundMark x1="43423" y1="96385" x2="44162" y2="96049"/>
                        <a14:foregroundMark x1="55149" y1="93495" x2="62293" y2="92856"/>
                        <a14:foregroundMark x1="95973" y1="94930" x2="97917" y2="94758"/>
                        <a14:foregroundMark x1="97917" y1="94758" x2="97524" y2="95131"/>
                        <a14:foregroundMark x1="54973" y1="50538" x2="58737" y2="53562"/>
                        <a14:backgroundMark x1="12769" y1="66868" x2="8602" y2="64449"/>
                        <a14:backgroundMark x1="8602" y1="64449" x2="8602" y2="64449"/>
                        <a14:backgroundMark x1="8602" y1="64449" x2="3495" y2="65121"/>
                        <a14:backgroundMark x1="3629" y1="59341" x2="3831" y2="57056"/>
                        <a14:backgroundMark x1="1142" y1="66599" x2="5040" y2="56317"/>
                        <a14:backgroundMark x1="5040" y1="56317" x2="67" y2="63642"/>
                        <a14:backgroundMark x1="67" y1="63642" x2="6989" y2="60484"/>
                        <a14:backgroundMark x1="2957" y1="51882" x2="3696" y2="60753"/>
                        <a14:backgroundMark x1="3696" y1="60753" x2="2823" y2="54234"/>
                        <a14:backgroundMark x1="3226" y1="63239" x2="4839" y2="65793"/>
                        <a14:backgroundMark x1="6250" y1="62298" x2="7124" y2="63978"/>
                        <a14:backgroundMark x1="6183" y1="62634" x2="4839" y2="62097"/>
                        <a14:backgroundMark x1="3898" y1="66734" x2="3360" y2="66465"/>
                        <a14:backgroundMark x1="4368" y1="66465" x2="4368" y2="66465"/>
                        <a14:backgroundMark x1="4906" y1="66667" x2="4906" y2="66667"/>
                        <a14:backgroundMark x1="4099" y1="66599" x2="4099" y2="66599"/>
                        <a14:backgroundMark x1="1882" y1="66398" x2="11425" y2="66801"/>
                        <a14:backgroundMark x1="11425" y1="66801" x2="11962" y2="67003"/>
                        <a14:backgroundMark x1="0" y1="93616" x2="8804" y2="92070"/>
                        <a14:backgroundMark x1="8804" y1="92070" x2="17540" y2="96304"/>
                        <a14:backgroundMark x1="17540" y1="96304" x2="24194" y2="90121"/>
                        <a14:backgroundMark x1="24194" y1="90121" x2="47043" y2="88844"/>
                        <a14:backgroundMark x1="47043" y1="88844" x2="58535" y2="88911"/>
                        <a14:backgroundMark x1="58535" y1="88911" x2="65860" y2="93414"/>
                        <a14:backgroundMark x1="65860" y1="93414" x2="77083" y2="93347"/>
                        <a14:backgroundMark x1="77083" y1="93347" x2="89516" y2="93616"/>
                        <a14:backgroundMark x1="89516" y1="93616" x2="99798" y2="93548"/>
                        <a14:backgroundMark x1="1613" y1="96438" x2="44422" y2="94624"/>
                        <a14:backgroundMark x1="605" y1="99194" x2="48454" y2="97379"/>
                        <a14:backgroundMark x1="48454" y1="97379" x2="62903" y2="98589"/>
                        <a14:backgroundMark x1="48656" y1="96035" x2="83737" y2="94624"/>
                        <a14:backgroundMark x1="83737" y1="94624" x2="98253" y2="96505"/>
                        <a14:backgroundMark x1="43884" y1="95161" x2="74395" y2="94624"/>
                        <a14:backgroundMark x1="74395" y1="94624" x2="95228" y2="97245"/>
                        <a14:backgroundMark x1="70228" y1="98051" x2="94825" y2="94960"/>
                        <a14:backgroundMark x1="94825" y1="94960" x2="87433" y2="99933"/>
                        <a14:backgroundMark x1="87433" y1="99933" x2="76142" y2="97782"/>
                        <a14:backgroundMark x1="76142" y1="97782" x2="85820" y2="98253"/>
                        <a14:backgroundMark x1="85820" y1="98253" x2="72648" y2="98589"/>
                        <a14:backgroundMark x1="72648" y1="98589" x2="85753" y2="97984"/>
                        <a14:backgroundMark x1="85753" y1="97984" x2="66935" y2="98118"/>
                        <a14:backgroundMark x1="66935" y1="98118" x2="75739" y2="97312"/>
                        <a14:backgroundMark x1="75739" y1="97312" x2="44153" y2="96035"/>
                        <a14:backgroundMark x1="44153" y1="96035" x2="54772" y2="94153"/>
                        <a14:backgroundMark x1="54772" y1="94153" x2="9745" y2="95968"/>
                        <a14:backgroundMark x1="9745" y1="95968" x2="6048" y2="98656"/>
                      </a14:backgroundRemoval>
                    </a14:imgEffect>
                  </a14:imgLayer>
                </a14:imgProps>
              </a:ext>
            </a:extLst>
          </a:blip>
          <a:srcRect b="12151"/>
          <a:stretch>
            <a:fillRect/>
          </a:stretch>
        </p:blipFill>
        <p:spPr>
          <a:xfrm>
            <a:off x="16248281" y="1641277"/>
            <a:ext cx="5668566" cy="49797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8" name="Picture 6" descr="83,300+ Only Sky Stock Photos, Pictures &amp; Royalty-Free Images - iStock |  Blue sky, Sky with clouds, Cloud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60161" cy="8246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/>
          <p:cNvSpPr/>
          <p:nvPr/>
        </p:nvSpPr>
        <p:spPr>
          <a:xfrm>
            <a:off x="-23150" y="0"/>
            <a:ext cx="14630400" cy="8246133"/>
          </a:xfrm>
          <a:prstGeom prst="rect">
            <a:avLst/>
          </a:prstGeom>
          <a:solidFill>
            <a:srgbClr val="F2F2F2">
              <a:alpha val="36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758309" y="616387"/>
            <a:ext cx="11353800" cy="5700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Importance – What Drives Temperature Change?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58309" y="1619607"/>
            <a:ext cx="3328035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Understanding Our Model's Focus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8309" y="2077998"/>
            <a:ext cx="7022187" cy="5545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After training, our Multi-model Regression System</a:t>
            </a:r>
            <a:endParaRPr lang="en-US" sz="1350" dirty="0">
              <a:solidFill>
                <a:srgbClr val="384653"/>
              </a:solidFill>
              <a:latin typeface="Montserrat" panose="00000500000000000000" pitchFamily="34" charset="0"/>
              <a:ea typeface="Montserrat" panose="00000500000000000000" pitchFamily="34" charset="-122"/>
              <a:cs typeface="Montserrat" panose="00000500000000000000" pitchFamily="34" charset="-120"/>
            </a:endParaRPr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provides insights into which features most influenced its temperature predictions.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59" y="3093714"/>
            <a:ext cx="433268" cy="4332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85002" y="3196584"/>
            <a:ext cx="2280642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CO₂ Emissions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385002" y="3654975"/>
            <a:ext cx="6372344" cy="2772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Tons/Capita: The </a:t>
            </a:r>
            <a:r>
              <a:rPr lang="en-US" sz="1350" b="1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most significant</a:t>
            </a: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driver of temperature change.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59" y="4365540"/>
            <a:ext cx="433268" cy="4332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85002" y="4468410"/>
            <a:ext cx="2280642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Forest Area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385002" y="4926800"/>
            <a:ext cx="6372344" cy="2772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Percentage: Key for carbon absorption and climate regulation.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59" y="5637366"/>
            <a:ext cx="433268" cy="4332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85002" y="5740236"/>
            <a:ext cx="2280642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Sea Level Rise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385002" y="6198626"/>
            <a:ext cx="6372344" cy="2772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Millimeters: Indicative of broader climate shifts.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35159" y="6670828"/>
            <a:ext cx="7022187" cy="1013579"/>
          </a:xfrm>
          <a:prstGeom prst="roundRect">
            <a:avLst>
              <a:gd name="adj" fmla="val 25651"/>
            </a:avLst>
          </a:prstGeom>
          <a:solidFill>
            <a:srgbClr val="BEDFF3"/>
          </a:solidFill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395" y="6933718"/>
            <a:ext cx="216575" cy="17323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206" y="6887284"/>
            <a:ext cx="6285905" cy="5545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Understanding which variables most affect temperature helps inform </a:t>
            </a:r>
            <a:r>
              <a:rPr lang="en-US" sz="13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climate policy</a:t>
            </a:r>
            <a:r>
              <a:rPr lang="en-US" sz="13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and </a:t>
            </a:r>
            <a:r>
              <a:rPr lang="en-US" sz="1350" b="1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risk prediction</a:t>
            </a:r>
            <a:r>
              <a:rPr lang="en-US" sz="135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12" b="98925" l="67" r="99597">
                        <a14:foregroundMark x1="77083" y1="29839" x2="86156" y2="29973"/>
                        <a14:foregroundMark x1="86156" y1="29973" x2="90188" y2="35349"/>
                        <a14:foregroundMark x1="77083" y1="32930" x2="71640" y2="45094"/>
                        <a14:foregroundMark x1="71640" y1="45094" x2="80914" y2="44825"/>
                        <a14:foregroundMark x1="80914" y1="44825" x2="80780" y2="41667"/>
                        <a14:foregroundMark x1="83401" y1="51075" x2="82997" y2="79234"/>
                        <a14:foregroundMark x1="76882" y1="50874" x2="65457" y2="68011"/>
                        <a14:foregroundMark x1="24963" y1="91253" x2="24147" y2="94160"/>
                        <a14:foregroundMark x1="57541" y1="89925" x2="59220" y2="93695"/>
                        <a14:foregroundMark x1="55444" y1="85215" x2="56546" y2="87691"/>
                        <a14:foregroundMark x1="80175" y1="62500" x2="76637" y2="92147"/>
                        <a14:foregroundMark x1="69960" y1="81116" x2="94355" y2="87164"/>
                        <a14:foregroundMark x1="94355" y1="87164" x2="95699" y2="87030"/>
                        <a14:foregroundMark x1="3986" y1="67715" x2="6673" y2="91329"/>
                        <a14:foregroundMark x1="21446" y1="93461" x2="28359" y2="93990"/>
                        <a14:foregroundMark x1="13583" y1="92859" x2="19882" y2="93341"/>
                        <a14:foregroundMark x1="72717" y1="92171" x2="94892" y2="89987"/>
                        <a14:foregroundMark x1="56796" y1="93738" x2="62771" y2="93150"/>
                        <a14:foregroundMark x1="94892" y1="89987" x2="48992" y2="82796"/>
                        <a14:foregroundMark x1="48992" y1="82796" x2="33065" y2="56384"/>
                        <a14:foregroundMark x1="33065" y1="56384" x2="35081" y2="43347"/>
                        <a14:foregroundMark x1="35081" y1="43347" x2="48118" y2="55645"/>
                        <a14:foregroundMark x1="48118" y1="55645" x2="22917" y2="52621"/>
                        <a14:foregroundMark x1="22917" y1="52621" x2="20363" y2="49261"/>
                        <a14:foregroundMark x1="1344" y1="73320" x2="11559" y2="75605"/>
                        <a14:foregroundMark x1="18683" y1="36828" x2="30981" y2="43011"/>
                        <a14:foregroundMark x1="30981" y1="43011" x2="48858" y2="42876"/>
                        <a14:foregroundMark x1="48858" y1="42876" x2="57997" y2="60954"/>
                        <a14:foregroundMark x1="57997" y1="60954" x2="57527" y2="64180"/>
                        <a14:foregroundMark x1="36694" y1="37836" x2="52083" y2="39919"/>
                        <a14:foregroundMark x1="52083" y1="39919" x2="64785" y2="46573"/>
                        <a14:foregroundMark x1="64785" y1="46573" x2="61089" y2="65995"/>
                        <a14:foregroundMark x1="61089" y1="65995" x2="54435" y2="59946"/>
                        <a14:foregroundMark x1="54435" y1="59946" x2="54435" y2="60282"/>
                        <a14:foregroundMark x1="37298" y1="41465" x2="46169" y2="50941"/>
                        <a14:foregroundMark x1="46169" y1="50941" x2="53024" y2="64180"/>
                        <a14:foregroundMark x1="84274" y1="82930" x2="99597" y2="83333"/>
                        <a14:foregroundMark x1="134" y1="98858" x2="134" y2="97849"/>
                        <a14:foregroundMark x1="23790" y1="34946" x2="18817" y2="51478"/>
                        <a14:foregroundMark x1="18817" y1="51478" x2="18616" y2="65323"/>
                        <a14:foregroundMark x1="18616" y1="65323" x2="40121" y2="58737"/>
                        <a14:foregroundMark x1="40121" y1="58737" x2="34274" y2="48185"/>
                        <a14:foregroundMark x1="34274" y1="48185" x2="27016" y2="52688"/>
                        <a14:foregroundMark x1="27016" y1="52688" x2="42070" y2="54839"/>
                        <a14:foregroundMark x1="42070" y1="54839" x2="44825" y2="54167"/>
                        <a14:foregroundMark x1="39718" y1="53763" x2="54637" y2="45833"/>
                        <a14:foregroundMark x1="54637" y1="45833" x2="56048" y2="46169"/>
                        <a14:foregroundMark x1="56452" y1="46169" x2="46438" y2="47446"/>
                        <a14:foregroundMark x1="46438" y1="47446" x2="36425" y2="52016"/>
                        <a14:foregroundMark x1="36425" y1="52016" x2="32594" y2="55376"/>
                        <a14:foregroundMark x1="4030" y1="67717" x2="2755" y2="71505"/>
                        <a14:foregroundMark x1="13274" y1="67928" x2="34476" y2="70228"/>
                        <a14:foregroundMark x1="11559" y1="67742" x2="12922" y2="67890"/>
                        <a14:foregroundMark x1="34476" y1="70228" x2="45497" y2="79368"/>
                        <a14:foregroundMark x1="24121" y1="91300" x2="22984" y2="91935"/>
                        <a14:foregroundMark x1="45497" y1="79368" x2="28800" y2="88688"/>
                        <a14:foregroundMark x1="21823" y1="91538" x2="5511" y2="85954"/>
                        <a14:foregroundMark x1="5511" y1="85954" x2="28965" y2="73522"/>
                        <a14:foregroundMark x1="28965" y1="73522" x2="18078" y2="88239"/>
                        <a14:foregroundMark x1="8944" y1="93664" x2="6621" y2="95044"/>
                        <a14:foregroundMark x1="18078" y1="88239" x2="11775" y2="91983"/>
                        <a14:foregroundMark x1="16806" y1="97126" x2="18980" y2="97312"/>
                        <a14:foregroundMark x1="15643" y1="97026" x2="15933" y2="97051"/>
                        <a14:foregroundMark x1="43423" y1="96385" x2="44162" y2="96049"/>
                        <a14:foregroundMark x1="55149" y1="93495" x2="62293" y2="92856"/>
                        <a14:foregroundMark x1="95973" y1="94930" x2="97917" y2="94758"/>
                        <a14:foregroundMark x1="97917" y1="94758" x2="97524" y2="95131"/>
                        <a14:foregroundMark x1="54973" y1="50538" x2="58737" y2="53562"/>
                        <a14:backgroundMark x1="12769" y1="66868" x2="8602" y2="64449"/>
                        <a14:backgroundMark x1="8602" y1="64449" x2="8602" y2="64449"/>
                        <a14:backgroundMark x1="8602" y1="64449" x2="3495" y2="65121"/>
                        <a14:backgroundMark x1="3629" y1="59341" x2="3831" y2="57056"/>
                        <a14:backgroundMark x1="1142" y1="66599" x2="5040" y2="56317"/>
                        <a14:backgroundMark x1="5040" y1="56317" x2="67" y2="63642"/>
                        <a14:backgroundMark x1="67" y1="63642" x2="6989" y2="60484"/>
                        <a14:backgroundMark x1="2957" y1="51882" x2="3696" y2="60753"/>
                        <a14:backgroundMark x1="3696" y1="60753" x2="2823" y2="54234"/>
                        <a14:backgroundMark x1="3226" y1="63239" x2="4839" y2="65793"/>
                        <a14:backgroundMark x1="6250" y1="62298" x2="7124" y2="63978"/>
                        <a14:backgroundMark x1="6183" y1="62634" x2="4839" y2="62097"/>
                        <a14:backgroundMark x1="3898" y1="66734" x2="3360" y2="66465"/>
                        <a14:backgroundMark x1="4368" y1="66465" x2="4368" y2="66465"/>
                        <a14:backgroundMark x1="4906" y1="66667" x2="4906" y2="66667"/>
                        <a14:backgroundMark x1="4099" y1="66599" x2="4099" y2="66599"/>
                        <a14:backgroundMark x1="1882" y1="66398" x2="11425" y2="66801"/>
                        <a14:backgroundMark x1="11425" y1="66801" x2="11962" y2="67003"/>
                        <a14:backgroundMark x1="0" y1="93616" x2="8804" y2="92070"/>
                        <a14:backgroundMark x1="8804" y1="92070" x2="17540" y2="96304"/>
                        <a14:backgroundMark x1="17540" y1="96304" x2="24194" y2="90121"/>
                        <a14:backgroundMark x1="24194" y1="90121" x2="47043" y2="88844"/>
                        <a14:backgroundMark x1="47043" y1="88844" x2="58535" y2="88911"/>
                        <a14:backgroundMark x1="58535" y1="88911" x2="65860" y2="93414"/>
                        <a14:backgroundMark x1="65860" y1="93414" x2="77083" y2="93347"/>
                        <a14:backgroundMark x1="77083" y1="93347" x2="89516" y2="93616"/>
                        <a14:backgroundMark x1="89516" y1="93616" x2="99798" y2="93548"/>
                        <a14:backgroundMark x1="1613" y1="96438" x2="44422" y2="94624"/>
                        <a14:backgroundMark x1="605" y1="99194" x2="48454" y2="97379"/>
                        <a14:backgroundMark x1="48454" y1="97379" x2="62903" y2="98589"/>
                        <a14:backgroundMark x1="48656" y1="96035" x2="83737" y2="94624"/>
                        <a14:backgroundMark x1="83737" y1="94624" x2="98253" y2="96505"/>
                        <a14:backgroundMark x1="43884" y1="95161" x2="74395" y2="94624"/>
                        <a14:backgroundMark x1="74395" y1="94624" x2="95228" y2="97245"/>
                        <a14:backgroundMark x1="70228" y1="98051" x2="94825" y2="94960"/>
                        <a14:backgroundMark x1="94825" y1="94960" x2="87433" y2="99933"/>
                        <a14:backgroundMark x1="87433" y1="99933" x2="76142" y2="97782"/>
                        <a14:backgroundMark x1="76142" y1="97782" x2="85820" y2="98253"/>
                        <a14:backgroundMark x1="85820" y1="98253" x2="72648" y2="98589"/>
                        <a14:backgroundMark x1="72648" y1="98589" x2="85753" y2="97984"/>
                        <a14:backgroundMark x1="85753" y1="97984" x2="66935" y2="98118"/>
                        <a14:backgroundMark x1="66935" y1="98118" x2="75739" y2="97312"/>
                        <a14:backgroundMark x1="75739" y1="97312" x2="44153" y2="96035"/>
                        <a14:backgroundMark x1="44153" y1="96035" x2="54772" y2="94153"/>
                        <a14:backgroundMark x1="54772" y1="94153" x2="9745" y2="95968"/>
                        <a14:backgroundMark x1="9745" y1="95968" x2="6048" y2="98656"/>
                      </a14:backgroundRemoval>
                    </a14:imgEffect>
                  </a14:imgLayer>
                </a14:imgProps>
              </a:ext>
            </a:extLst>
          </a:blip>
          <a:srcRect b="12151"/>
          <a:stretch>
            <a:fillRect/>
          </a:stretch>
        </p:blipFill>
        <p:spPr>
          <a:xfrm>
            <a:off x="8211026" y="1641277"/>
            <a:ext cx="5668566" cy="4979789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79095" y="-7202253"/>
            <a:ext cx="5884545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Additional Visualizations – Understanding the Climate Data</a:t>
            </a:r>
            <a:endParaRPr lang="en-US" sz="1750" dirty="0"/>
          </a:p>
        </p:txBody>
      </p:sp>
      <p:sp>
        <p:nvSpPr>
          <p:cNvPr id="21" name="Text 1"/>
          <p:cNvSpPr/>
          <p:nvPr/>
        </p:nvSpPr>
        <p:spPr>
          <a:xfrm>
            <a:off x="379095" y="-6787201"/>
            <a:ext cx="13872210" cy="138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Dive deeper into our dataset with visual analyses revealing feature distributions, correlations, and underlying climate patterns.</a:t>
            </a:r>
            <a:endParaRPr lang="en-US" sz="650" dirty="0"/>
          </a:p>
        </p:txBody>
      </p:sp>
      <p:sp>
        <p:nvSpPr>
          <p:cNvPr id="22" name="Text 2"/>
          <p:cNvSpPr/>
          <p:nvPr/>
        </p:nvSpPr>
        <p:spPr>
          <a:xfrm>
            <a:off x="-7741519" y="2118717"/>
            <a:ext cx="1712357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Actual vs Predicted Temperature</a:t>
            </a:r>
            <a:endParaRPr lang="en-US" sz="85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741520" y="2358627"/>
            <a:ext cx="5622681" cy="4197191"/>
          </a:xfrm>
          <a:prstGeom prst="rect">
            <a:avLst/>
          </a:prstGeom>
        </p:spPr>
      </p:pic>
      <p:sp>
        <p:nvSpPr>
          <p:cNvPr id="24" name="Text 3"/>
          <p:cNvSpPr/>
          <p:nvPr/>
        </p:nvSpPr>
        <p:spPr>
          <a:xfrm>
            <a:off x="17833422" y="2118717"/>
            <a:ext cx="1454110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Correlation Heatmap</a:t>
            </a:r>
            <a:endParaRPr lang="en-US" sz="8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47330" y="2358628"/>
            <a:ext cx="5531863" cy="4678985"/>
          </a:xfrm>
          <a:prstGeom prst="rect">
            <a:avLst/>
          </a:prstGeom>
        </p:spPr>
      </p:pic>
      <p:sp>
        <p:nvSpPr>
          <p:cNvPr id="26" name="Text 4"/>
          <p:cNvSpPr/>
          <p:nvPr/>
        </p:nvSpPr>
        <p:spPr>
          <a:xfrm>
            <a:off x="379095" y="15843885"/>
            <a:ext cx="1655207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Key Insights from Visual Analysis</a:t>
            </a:r>
            <a:endParaRPr lang="en-US" sz="850" dirty="0"/>
          </a:p>
        </p:txBody>
      </p:sp>
      <p:sp>
        <p:nvSpPr>
          <p:cNvPr id="27" name="Shape 5"/>
          <p:cNvSpPr/>
          <p:nvPr/>
        </p:nvSpPr>
        <p:spPr>
          <a:xfrm>
            <a:off x="379095" y="16116300"/>
            <a:ext cx="194905" cy="194905"/>
          </a:xfrm>
          <a:prstGeom prst="roundRect">
            <a:avLst>
              <a:gd name="adj" fmla="val 6669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8" name="Text 6"/>
          <p:cNvSpPr/>
          <p:nvPr/>
        </p:nvSpPr>
        <p:spPr>
          <a:xfrm>
            <a:off x="660559" y="16146066"/>
            <a:ext cx="1272778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Stable Predicted Temperature Range</a:t>
            </a:r>
            <a:endParaRPr lang="en-US" sz="850" dirty="0"/>
          </a:p>
        </p:txBody>
      </p:sp>
      <p:sp>
        <p:nvSpPr>
          <p:cNvPr id="29" name="Text 7"/>
          <p:cNvSpPr/>
          <p:nvPr/>
        </p:nvSpPr>
        <p:spPr>
          <a:xfrm>
            <a:off x="660559" y="16340495"/>
            <a:ext cx="4270415" cy="2771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 the Actual vs Predicted Temperature plot, most predictions lie within a narrow and consistent range (~18–22°C).</a:t>
            </a:r>
            <a:endParaRPr lang="en-US" sz="650" dirty="0"/>
          </a:p>
        </p:txBody>
      </p:sp>
      <p:sp>
        <p:nvSpPr>
          <p:cNvPr id="30" name="Shape 8"/>
          <p:cNvSpPr/>
          <p:nvPr/>
        </p:nvSpPr>
        <p:spPr>
          <a:xfrm>
            <a:off x="5039201" y="16116300"/>
            <a:ext cx="194905" cy="194905"/>
          </a:xfrm>
          <a:prstGeom prst="roundRect">
            <a:avLst>
              <a:gd name="adj" fmla="val 6669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31" name="Text 9"/>
          <p:cNvSpPr/>
          <p:nvPr/>
        </p:nvSpPr>
        <p:spPr>
          <a:xfrm>
            <a:off x="5320665" y="16146066"/>
            <a:ext cx="1261586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No Multicollinearity in Features</a:t>
            </a:r>
            <a:endParaRPr lang="en-US" sz="850" dirty="0"/>
          </a:p>
        </p:txBody>
      </p:sp>
      <p:sp>
        <p:nvSpPr>
          <p:cNvPr id="32" name="Text 10"/>
          <p:cNvSpPr/>
          <p:nvPr/>
        </p:nvSpPr>
        <p:spPr>
          <a:xfrm>
            <a:off x="5320665" y="16340495"/>
            <a:ext cx="4270415" cy="4157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050"/>
              </a:lnSpc>
            </a:pPr>
            <a:r>
              <a:rPr lang="en-US" sz="800" dirty="0"/>
              <a:t>From the </a:t>
            </a:r>
            <a:r>
              <a:rPr lang="en-US" sz="800" b="1" dirty="0"/>
              <a:t>Correlation Heatmap</a:t>
            </a:r>
            <a:r>
              <a:rPr lang="en-US" sz="800" dirty="0"/>
              <a:t>, no pair of features shows a very high correlation (close to ±1)</a:t>
            </a:r>
            <a:endParaRPr lang="en-US" sz="650" dirty="0"/>
          </a:p>
        </p:txBody>
      </p:sp>
      <p:sp>
        <p:nvSpPr>
          <p:cNvPr id="33" name="Shape 11"/>
          <p:cNvSpPr/>
          <p:nvPr/>
        </p:nvSpPr>
        <p:spPr>
          <a:xfrm>
            <a:off x="9699308" y="16116300"/>
            <a:ext cx="194905" cy="194905"/>
          </a:xfrm>
          <a:prstGeom prst="roundRect">
            <a:avLst>
              <a:gd name="adj" fmla="val 6669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34" name="Text 12"/>
          <p:cNvSpPr/>
          <p:nvPr/>
        </p:nvSpPr>
        <p:spPr>
          <a:xfrm>
            <a:off x="9980771" y="16146066"/>
            <a:ext cx="1140262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Clean and Balanced Dataset</a:t>
            </a:r>
            <a:endParaRPr lang="en-US" sz="850" dirty="0"/>
          </a:p>
        </p:txBody>
      </p:sp>
      <p:sp>
        <p:nvSpPr>
          <p:cNvPr id="35" name="Text 13"/>
          <p:cNvSpPr/>
          <p:nvPr/>
        </p:nvSpPr>
        <p:spPr>
          <a:xfrm>
            <a:off x="9980771" y="16340495"/>
            <a:ext cx="4270415" cy="2771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The heatmap shows a balanced and evenly distributed set of features with no dominant variable overpowering others.</a:t>
            </a:r>
            <a:endParaRPr lang="en-US" sz="6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9095" y="1381125"/>
            <a:ext cx="5884545" cy="2851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Additional Visualizations – Understanding the Climate Data</a:t>
            </a: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379095" y="1796177"/>
            <a:ext cx="13872210" cy="138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Dive deeper into our dataset with visual analyses revealing feature distributions, correlations, and underlying climate patterns.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79095" y="2118717"/>
            <a:ext cx="1712357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Actual vs Predicted Temperature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7428548" y="2118717"/>
            <a:ext cx="1454110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Feature Correlation Heatmap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379095" y="7080885"/>
            <a:ext cx="1655207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Key Insights from Visual Analysis</a:t>
            </a:r>
            <a:endParaRPr lang="en-US" sz="850" dirty="0"/>
          </a:p>
        </p:txBody>
      </p:sp>
      <p:sp>
        <p:nvSpPr>
          <p:cNvPr id="10" name="Shape 5"/>
          <p:cNvSpPr/>
          <p:nvPr/>
        </p:nvSpPr>
        <p:spPr>
          <a:xfrm>
            <a:off x="379095" y="7353300"/>
            <a:ext cx="194905" cy="194905"/>
          </a:xfrm>
          <a:prstGeom prst="roundRect">
            <a:avLst>
              <a:gd name="adj" fmla="val 6669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60559" y="7383066"/>
            <a:ext cx="1272778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Stable Predicted Temperature Range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660559" y="7577495"/>
            <a:ext cx="4270415" cy="2771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 the Actual vs Predicted Temperature plot, most predictions lie within a narrow and consistent range (~18–22°C).</a:t>
            </a:r>
            <a:endParaRPr lang="en-US" sz="650" dirty="0"/>
          </a:p>
        </p:txBody>
      </p:sp>
      <p:sp>
        <p:nvSpPr>
          <p:cNvPr id="13" name="Shape 8"/>
          <p:cNvSpPr/>
          <p:nvPr/>
        </p:nvSpPr>
        <p:spPr>
          <a:xfrm>
            <a:off x="5039201" y="7353300"/>
            <a:ext cx="194905" cy="194905"/>
          </a:xfrm>
          <a:prstGeom prst="roundRect">
            <a:avLst>
              <a:gd name="adj" fmla="val 6669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320665" y="7383066"/>
            <a:ext cx="1261586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No Multicollinearity in Features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320665" y="7577495"/>
            <a:ext cx="4270415" cy="4157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050"/>
              </a:lnSpc>
            </a:pPr>
            <a:r>
              <a:rPr lang="en-US" sz="800" dirty="0"/>
              <a:t>From the </a:t>
            </a:r>
            <a:r>
              <a:rPr lang="en-US" sz="800" b="1" dirty="0"/>
              <a:t>Correlation Heatmap</a:t>
            </a:r>
            <a:r>
              <a:rPr lang="en-US" sz="800" dirty="0"/>
              <a:t>, no pair of features shows a very high correlation (close to ±1)</a:t>
            </a:r>
            <a:endParaRPr lang="en-US" sz="650" dirty="0"/>
          </a:p>
        </p:txBody>
      </p:sp>
      <p:sp>
        <p:nvSpPr>
          <p:cNvPr id="16" name="Shape 11"/>
          <p:cNvSpPr/>
          <p:nvPr/>
        </p:nvSpPr>
        <p:spPr>
          <a:xfrm>
            <a:off x="9699308" y="7353300"/>
            <a:ext cx="194905" cy="194905"/>
          </a:xfrm>
          <a:prstGeom prst="roundRect">
            <a:avLst>
              <a:gd name="adj" fmla="val 6669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980771" y="7383066"/>
            <a:ext cx="1140262" cy="1425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Clean and Balanced Dataset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9980771" y="7577495"/>
            <a:ext cx="4270415" cy="2771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The heatmap shows a balanced and evenly distributed set of features with no dominant variable overpowering others.</a:t>
            </a:r>
            <a:endParaRPr lang="en-US" sz="6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94" y="2358627"/>
            <a:ext cx="5622681" cy="419719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8401" y="2358628"/>
            <a:ext cx="5531863" cy="467898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2801600" y="7782560"/>
            <a:ext cx="1717040" cy="415766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 0"/>
          <p:cNvSpPr/>
          <p:nvPr/>
        </p:nvSpPr>
        <p:spPr>
          <a:xfrm>
            <a:off x="-9542265" y="478393"/>
            <a:ext cx="7227570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Results Summary – What Did We Learn from the Model?</a:t>
            </a:r>
            <a:endParaRPr lang="en-US" sz="23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42265" y="1301472"/>
            <a:ext cx="7252811" cy="60960"/>
          </a:xfrm>
          <a:prstGeom prst="rect">
            <a:avLst/>
          </a:prstGeom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85464" y="1147167"/>
            <a:ext cx="339209" cy="339209"/>
          </a:xfrm>
          <a:prstGeom prst="rect">
            <a:avLst/>
          </a:prstGeom>
        </p:spPr>
      </p:pic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983666" y="1231940"/>
            <a:ext cx="135612" cy="169545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-9414035" y="1599367"/>
            <a:ext cx="1488043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28" name="Text 2"/>
          <p:cNvSpPr/>
          <p:nvPr/>
        </p:nvSpPr>
        <p:spPr>
          <a:xfrm>
            <a:off x="-9414035" y="1898333"/>
            <a:ext cx="6996351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Predict average temperature (°C) using environmental factors like CO₂ emissions, sea level rise, rainfall, population, etc., via multiple machine learning models.</a:t>
            </a:r>
            <a:endParaRPr lang="en-US" sz="8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42265" y="2655808"/>
            <a:ext cx="7252811" cy="60960"/>
          </a:xfrm>
          <a:prstGeom prst="rect">
            <a:avLst/>
          </a:prstGeom>
        </p:spPr>
      </p:pic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85464" y="2501503"/>
            <a:ext cx="339209" cy="339209"/>
          </a:xfrm>
          <a:prstGeom prst="rect">
            <a:avLst/>
          </a:prstGeom>
        </p:spPr>
      </p:pic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983666" y="2586276"/>
            <a:ext cx="135612" cy="169545"/>
          </a:xfrm>
          <a:prstGeom prst="rect">
            <a:avLst/>
          </a:prstGeom>
        </p:spPr>
      </p:pic>
      <p:sp>
        <p:nvSpPr>
          <p:cNvPr id="32" name="Text 3"/>
          <p:cNvSpPr/>
          <p:nvPr/>
        </p:nvSpPr>
        <p:spPr>
          <a:xfrm>
            <a:off x="-9414035" y="2953702"/>
            <a:ext cx="1488043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 Models Compared</a:t>
            </a:r>
            <a:endParaRPr lang="en-US" sz="1150" dirty="0"/>
          </a:p>
        </p:txBody>
      </p:sp>
      <p:sp>
        <p:nvSpPr>
          <p:cNvPr id="33" name="Text 4"/>
          <p:cNvSpPr/>
          <p:nvPr/>
        </p:nvSpPr>
        <p:spPr>
          <a:xfrm>
            <a:off x="-9414035" y="3252668"/>
            <a:ext cx="6996351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Random Forest Regressor</a:t>
            </a:r>
            <a:endParaRPr lang="en-US" sz="850" dirty="0">
              <a:solidFill>
                <a:srgbClr val="384653"/>
              </a:solidFill>
              <a:latin typeface="Montserrat" panose="00000500000000000000" pitchFamily="34" charset="0"/>
              <a:ea typeface="Montserrat" panose="00000500000000000000" pitchFamily="34" charset="-122"/>
              <a:cs typeface="Montserrat" panose="00000500000000000000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LSTM (Long Short-Term Memory)</a:t>
            </a:r>
            <a:endParaRPr lang="en-US" sz="850" dirty="0">
              <a:solidFill>
                <a:srgbClr val="384653"/>
              </a:solidFill>
              <a:latin typeface="Montserrat" panose="00000500000000000000" pitchFamily="34" charset="0"/>
              <a:ea typeface="Montserrat" panose="00000500000000000000" pitchFamily="34" charset="-122"/>
              <a:cs typeface="Montserrat" panose="00000500000000000000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Transformer (Attention-Based Model)</a:t>
            </a:r>
            <a:endParaRPr lang="en-US" sz="8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42265" y="4010144"/>
            <a:ext cx="7252811" cy="60960"/>
          </a:xfrm>
          <a:prstGeom prst="rect">
            <a:avLst/>
          </a:prstGeom>
        </p:spPr>
      </p:pic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85464" y="3855839"/>
            <a:ext cx="339209" cy="339209"/>
          </a:xfrm>
          <a:prstGeom prst="rect">
            <a:avLst/>
          </a:prstGeom>
        </p:spPr>
      </p:pic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983666" y="3940612"/>
            <a:ext cx="135612" cy="169545"/>
          </a:xfrm>
          <a:prstGeom prst="rect">
            <a:avLst/>
          </a:prstGeom>
        </p:spPr>
      </p:pic>
      <p:sp>
        <p:nvSpPr>
          <p:cNvPr id="37" name="Text 5"/>
          <p:cNvSpPr/>
          <p:nvPr/>
        </p:nvSpPr>
        <p:spPr>
          <a:xfrm>
            <a:off x="-9414035" y="4308038"/>
            <a:ext cx="1488043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IN" sz="1200" b="1" dirty="0"/>
              <a:t>Performance Metrics</a:t>
            </a:r>
            <a:endParaRPr lang="en-US" sz="1150" dirty="0"/>
          </a:p>
        </p:txBody>
      </p:sp>
      <p:sp>
        <p:nvSpPr>
          <p:cNvPr id="38" name="Text 6"/>
          <p:cNvSpPr/>
          <p:nvPr/>
        </p:nvSpPr>
        <p:spPr>
          <a:xfrm>
            <a:off x="-9414035" y="4607004"/>
            <a:ext cx="6996351" cy="1809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Root Mean Squared Error (RMSE)</a:t>
            </a:r>
            <a:endParaRPr lang="en-US" sz="850" dirty="0">
              <a:solidFill>
                <a:srgbClr val="384653"/>
              </a:solidFill>
              <a:latin typeface="Montserrat" panose="00000500000000000000" pitchFamily="34" charset="0"/>
              <a:ea typeface="Montserrat" panose="00000500000000000000" pitchFamily="34" charset="-122"/>
              <a:cs typeface="Montserrat" panose="00000500000000000000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Mean Absolute Error (MAE)</a:t>
            </a:r>
            <a:endParaRPr lang="en-US" sz="85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42265" y="5183505"/>
            <a:ext cx="7252811" cy="60960"/>
          </a:xfrm>
          <a:prstGeom prst="rect">
            <a:avLst/>
          </a:prstGeom>
        </p:spPr>
      </p:pic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85464" y="5029200"/>
            <a:ext cx="339209" cy="339209"/>
          </a:xfrm>
          <a:prstGeom prst="rect">
            <a:avLst/>
          </a:prstGeom>
        </p:spPr>
      </p:pic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983666" y="5113973"/>
            <a:ext cx="135612" cy="169545"/>
          </a:xfrm>
          <a:prstGeom prst="rect">
            <a:avLst/>
          </a:prstGeom>
        </p:spPr>
      </p:pic>
      <p:sp>
        <p:nvSpPr>
          <p:cNvPr id="42" name="Text 7"/>
          <p:cNvSpPr/>
          <p:nvPr/>
        </p:nvSpPr>
        <p:spPr>
          <a:xfrm>
            <a:off x="-9414035" y="5481399"/>
            <a:ext cx="1488043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3" name="Text 8"/>
          <p:cNvSpPr/>
          <p:nvPr/>
        </p:nvSpPr>
        <p:spPr>
          <a:xfrm>
            <a:off x="-9414035" y="5780365"/>
            <a:ext cx="6996351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Transformer provides the most reliable and consistent temperature predictions in this study.</a:t>
            </a:r>
            <a:endParaRPr lang="en-US" sz="850" dirty="0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85464" y="6383536"/>
            <a:ext cx="339209" cy="339209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1012" y="1316879"/>
            <a:ext cx="6439614" cy="54125"/>
          </a:xfrm>
          <a:prstGeom prst="rect">
            <a:avLst/>
          </a:prstGeom>
        </p:spPr>
      </p:pic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47813" y="1239327"/>
            <a:ext cx="135612" cy="169545"/>
          </a:xfrm>
          <a:prstGeom prst="rect">
            <a:avLst/>
          </a:prstGeom>
        </p:spPr>
      </p:pic>
      <p:sp>
        <p:nvSpPr>
          <p:cNvPr id="47" name="Text 9"/>
          <p:cNvSpPr/>
          <p:nvPr/>
        </p:nvSpPr>
        <p:spPr>
          <a:xfrm>
            <a:off x="20424172" y="1599367"/>
            <a:ext cx="1488043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IN" sz="1200" b="1" dirty="0"/>
              <a:t>Results</a:t>
            </a:r>
            <a:endParaRPr lang="en-US" sz="115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24172" y="1988703"/>
            <a:ext cx="4243660" cy="2805131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28408" y="5049931"/>
            <a:ext cx="4533075" cy="2996440"/>
          </a:xfrm>
          <a:prstGeom prst="rect">
            <a:avLst/>
          </a:prstGeom>
        </p:spPr>
      </p:pic>
      <p:pic>
        <p:nvPicPr>
          <p:cNvPr id="16386" name="Picture 2" descr="pictures and backgrounds of the sky 4k- Amazon Appstore पर ऐप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68" b="-908"/>
          <a:stretch>
            <a:fillRect/>
          </a:stretch>
        </p:blipFill>
        <p:spPr bwMode="auto">
          <a:xfrm>
            <a:off x="0" y="0"/>
            <a:ext cx="14630400" cy="1355170"/>
          </a:xfrm>
          <a:prstGeom prst="flowChartDocumen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483808"/>
            <a:ext cx="5531863" cy="4678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886" y="478393"/>
            <a:ext cx="7227570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Results Summary – What Did We Learn from the Model?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886" y="1301472"/>
            <a:ext cx="7252811" cy="6096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687" y="1147167"/>
            <a:ext cx="339209" cy="33920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485" y="1231940"/>
            <a:ext cx="135612" cy="16954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37116" y="1599367"/>
            <a:ext cx="1488043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7" name="Text 2"/>
          <p:cNvSpPr/>
          <p:nvPr/>
        </p:nvSpPr>
        <p:spPr>
          <a:xfrm>
            <a:off x="737116" y="1898333"/>
            <a:ext cx="6996351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Predict average temperature (°C) using environmental factors like CO₂ emissions, sea level rise, rainfall, population, etc., via multiple machine learning models.</a:t>
            </a:r>
            <a:endParaRPr lang="en-US" sz="8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886" y="2655808"/>
            <a:ext cx="7252811" cy="6096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687" y="2501503"/>
            <a:ext cx="339209" cy="339209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485" y="2586276"/>
            <a:ext cx="135612" cy="16954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737116" y="2953702"/>
            <a:ext cx="1488043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 Models Compared</a:t>
            </a:r>
            <a:endParaRPr lang="en-US" sz="1150" dirty="0"/>
          </a:p>
        </p:txBody>
      </p:sp>
      <p:sp>
        <p:nvSpPr>
          <p:cNvPr id="12" name="Text 4"/>
          <p:cNvSpPr/>
          <p:nvPr/>
        </p:nvSpPr>
        <p:spPr>
          <a:xfrm>
            <a:off x="737116" y="3252668"/>
            <a:ext cx="6996351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Random Forest Regressor</a:t>
            </a:r>
            <a:endParaRPr lang="en-US" sz="850" dirty="0">
              <a:solidFill>
                <a:srgbClr val="384653"/>
              </a:solidFill>
              <a:latin typeface="Montserrat" panose="00000500000000000000" pitchFamily="34" charset="0"/>
              <a:ea typeface="Montserrat" panose="00000500000000000000" pitchFamily="34" charset="-122"/>
              <a:cs typeface="Montserrat" panose="00000500000000000000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LSTM (Long Short-Term Memory)</a:t>
            </a:r>
            <a:endParaRPr lang="en-US" sz="850" dirty="0">
              <a:solidFill>
                <a:srgbClr val="384653"/>
              </a:solidFill>
              <a:latin typeface="Montserrat" panose="00000500000000000000" pitchFamily="34" charset="0"/>
              <a:ea typeface="Montserrat" panose="00000500000000000000" pitchFamily="34" charset="-122"/>
              <a:cs typeface="Montserrat" panose="00000500000000000000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Transformer (Attention-Based Model)</a:t>
            </a:r>
            <a:endParaRPr lang="en-US" sz="85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886" y="4010144"/>
            <a:ext cx="7252811" cy="60960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687" y="3855839"/>
            <a:ext cx="339209" cy="339209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7485" y="3940612"/>
            <a:ext cx="135612" cy="169545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737116" y="4308038"/>
            <a:ext cx="1488043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IN" sz="1200" b="1" dirty="0"/>
              <a:t>Performance Metrics</a:t>
            </a:r>
            <a:endParaRPr lang="en-US" sz="1150" dirty="0"/>
          </a:p>
        </p:txBody>
      </p:sp>
      <p:sp>
        <p:nvSpPr>
          <p:cNvPr id="17" name="Text 6"/>
          <p:cNvSpPr/>
          <p:nvPr/>
        </p:nvSpPr>
        <p:spPr>
          <a:xfrm>
            <a:off x="737116" y="4607004"/>
            <a:ext cx="6996351" cy="1809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Root Mean Squared Error (RMSE)</a:t>
            </a:r>
            <a:endParaRPr lang="en-US" sz="850" dirty="0">
              <a:solidFill>
                <a:srgbClr val="384653"/>
              </a:solidFill>
              <a:latin typeface="Montserrat" panose="00000500000000000000" pitchFamily="34" charset="0"/>
              <a:ea typeface="Montserrat" panose="00000500000000000000" pitchFamily="34" charset="-122"/>
              <a:cs typeface="Montserrat" panose="00000500000000000000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Mean Absolute Error (MAE)</a:t>
            </a:r>
            <a:endParaRPr lang="en-US" sz="85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886" y="5183505"/>
            <a:ext cx="7252811" cy="60960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687" y="5029200"/>
            <a:ext cx="339209" cy="339209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7485" y="5113973"/>
            <a:ext cx="135612" cy="169545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737116" y="5481399"/>
            <a:ext cx="1488043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22" name="Text 8"/>
          <p:cNvSpPr/>
          <p:nvPr/>
        </p:nvSpPr>
        <p:spPr>
          <a:xfrm>
            <a:off x="737116" y="5780365"/>
            <a:ext cx="6996351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85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Transformer provides the most reliable and consistent temperature predictions in this study.</a:t>
            </a:r>
            <a:endParaRPr lang="en-US" sz="850" dirty="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067" y="1316879"/>
            <a:ext cx="6439614" cy="54125"/>
          </a:xfrm>
          <a:prstGeom prst="rect">
            <a:avLst/>
          </a:prstGeom>
        </p:spPr>
      </p:pic>
      <p:pic>
        <p:nvPicPr>
          <p:cNvPr id="24" name="Image 1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687" y="6383536"/>
            <a:ext cx="339209" cy="339209"/>
          </a:xfrm>
          <a:prstGeom prst="rect">
            <a:avLst/>
          </a:prstGeom>
        </p:spPr>
      </p:pic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01868" y="1239327"/>
            <a:ext cx="135612" cy="169545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8278227" y="1599367"/>
            <a:ext cx="1488043" cy="185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IN" sz="1200" b="1" dirty="0"/>
              <a:t>Results</a:t>
            </a:r>
            <a:endParaRPr lang="en-US" sz="1150" dirty="0"/>
          </a:p>
        </p:txBody>
      </p:sp>
      <p:sp>
        <p:nvSpPr>
          <p:cNvPr id="31" name="Rectangle 30"/>
          <p:cNvSpPr/>
          <p:nvPr/>
        </p:nvSpPr>
        <p:spPr>
          <a:xfrm>
            <a:off x="12823115" y="7616414"/>
            <a:ext cx="1761566" cy="5163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8227" y="1988703"/>
            <a:ext cx="4243660" cy="2805131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2463" y="5049931"/>
            <a:ext cx="4533075" cy="299644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723517" y="-12965431"/>
            <a:ext cx="7413784" cy="4491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Conclusion &amp; Future Scope – Wrapping It All Up</a:t>
            </a:r>
            <a:endParaRPr lang="en-US" sz="2800" dirty="0"/>
          </a:p>
        </p:txBody>
      </p:sp>
      <p:sp>
        <p:nvSpPr>
          <p:cNvPr id="39" name="Text 1"/>
          <p:cNvSpPr/>
          <p:nvPr/>
        </p:nvSpPr>
        <p:spPr>
          <a:xfrm>
            <a:off x="723517" y="-12311540"/>
            <a:ext cx="2155746" cy="269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Conclusion</a:t>
            </a:r>
            <a:endParaRPr lang="en-US" sz="165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517" y="-11647766"/>
            <a:ext cx="4295775" cy="60960"/>
          </a:xfrm>
          <a:prstGeom prst="rect">
            <a:avLst/>
          </a:prstGeom>
        </p:spPr>
      </p:pic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6617" y="-11837314"/>
            <a:ext cx="409575" cy="409575"/>
          </a:xfrm>
          <a:prstGeom prst="rect">
            <a:avLst/>
          </a:prstGeom>
        </p:spPr>
      </p:pic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89489" y="-11734920"/>
            <a:ext cx="163830" cy="204788"/>
          </a:xfrm>
          <a:prstGeom prst="rect">
            <a:avLst/>
          </a:prstGeom>
        </p:spPr>
      </p:pic>
      <p:sp>
        <p:nvSpPr>
          <p:cNvPr id="43" name="Text 2"/>
          <p:cNvSpPr/>
          <p:nvPr/>
        </p:nvSpPr>
        <p:spPr>
          <a:xfrm>
            <a:off x="875203" y="-11291293"/>
            <a:ext cx="1796415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Model Success</a:t>
            </a:r>
            <a:endParaRPr lang="en-US" sz="1400" dirty="0"/>
          </a:p>
        </p:txBody>
      </p:sp>
      <p:sp>
        <p:nvSpPr>
          <p:cNvPr id="44" name="Text 3"/>
          <p:cNvSpPr/>
          <p:nvPr/>
        </p:nvSpPr>
        <p:spPr>
          <a:xfrm>
            <a:off x="875203" y="-10984826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Among Random Forest, LSTM, and Transformer, the Transformer model showed the lowest MAE and RMSE, making it the most accurate predictor for average temperature.</a:t>
            </a:r>
            <a:endParaRPr lang="en-US" sz="120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5737" y="-11647766"/>
            <a:ext cx="4295775" cy="60960"/>
          </a:xfrm>
          <a:prstGeom prst="rect">
            <a:avLst/>
          </a:prstGeom>
        </p:spPr>
      </p:pic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8837" y="-11837314"/>
            <a:ext cx="409575" cy="409575"/>
          </a:xfrm>
          <a:prstGeom prst="rect">
            <a:avLst/>
          </a:prstGeom>
        </p:spPr>
      </p:pic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21710" y="-11734920"/>
            <a:ext cx="163830" cy="204788"/>
          </a:xfrm>
          <a:prstGeom prst="rect">
            <a:avLst/>
          </a:prstGeom>
        </p:spPr>
      </p:pic>
      <p:sp>
        <p:nvSpPr>
          <p:cNvPr id="48" name="Text 4"/>
          <p:cNvSpPr/>
          <p:nvPr/>
        </p:nvSpPr>
        <p:spPr>
          <a:xfrm>
            <a:off x="5307423" y="-11291293"/>
            <a:ext cx="1796415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Deep Learning with Attention Proved Effective</a:t>
            </a:r>
            <a:endParaRPr lang="en-US" sz="1400" dirty="0"/>
          </a:p>
        </p:txBody>
      </p:sp>
      <p:sp>
        <p:nvSpPr>
          <p:cNvPr id="49" name="Text 5"/>
          <p:cNvSpPr/>
          <p:nvPr/>
        </p:nvSpPr>
        <p:spPr>
          <a:xfrm>
            <a:off x="5307423" y="-10984826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Attention mechanisms in the </a:t>
            </a:r>
            <a:r>
              <a:rPr lang="en-US" sz="1050" dirty="0">
                <a:latin typeface="Montserrat" panose="00000500000000000000" pitchFamily="34" charset="0"/>
              </a:rPr>
              <a:t>Transformer</a:t>
            </a: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helped it better learn from complex climate features compared to traditional RNNs like LSTM.</a:t>
            </a:r>
            <a:endParaRPr lang="en-US" sz="12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7958" y="-11647766"/>
            <a:ext cx="4295775" cy="60960"/>
          </a:xfrm>
          <a:prstGeom prst="rect">
            <a:avLst/>
          </a:prstGeom>
        </p:spPr>
      </p:pic>
      <p:sp>
        <p:nvSpPr>
          <p:cNvPr id="51" name="Text 6"/>
          <p:cNvSpPr/>
          <p:nvPr/>
        </p:nvSpPr>
        <p:spPr>
          <a:xfrm>
            <a:off x="9739644" y="-11291293"/>
            <a:ext cx="1998226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Random Forest Still a Strong Baseline</a:t>
            </a:r>
            <a:endParaRPr lang="en-US" sz="1400" dirty="0"/>
          </a:p>
        </p:txBody>
      </p:sp>
      <p:sp>
        <p:nvSpPr>
          <p:cNvPr id="52" name="Text 7"/>
          <p:cNvSpPr/>
          <p:nvPr/>
        </p:nvSpPr>
        <p:spPr>
          <a:xfrm>
            <a:off x="9739644" y="-10984826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200" dirty="0">
                <a:latin typeface="Montserrat" panose="00000500000000000000" pitchFamily="34" charset="0"/>
              </a:rPr>
              <a:t>Despite being a traditional model, Random Forest delivered competitive results, making it a reliable and interpretable alternative.</a:t>
            </a:r>
            <a:endParaRPr lang="en-US" sz="1200" dirty="0">
              <a:latin typeface="Montserrat" panose="00000500000000000000" pitchFamily="34" charset="0"/>
            </a:endParaRPr>
          </a:p>
        </p:txBody>
      </p:sp>
      <p:sp>
        <p:nvSpPr>
          <p:cNvPr id="53" name="Text 9"/>
          <p:cNvSpPr/>
          <p:nvPr/>
        </p:nvSpPr>
        <p:spPr>
          <a:xfrm>
            <a:off x="723517" y="19534226"/>
            <a:ext cx="2155746" cy="269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Future Scope</a:t>
            </a:r>
            <a:endParaRPr lang="en-US" sz="1650" dirty="0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517" y="20198000"/>
            <a:ext cx="4295775" cy="60960"/>
          </a:xfrm>
          <a:prstGeom prst="rect">
            <a:avLst/>
          </a:prstGeom>
        </p:spPr>
      </p:pic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6617" y="20008452"/>
            <a:ext cx="409575" cy="409575"/>
          </a:xfrm>
          <a:prstGeom prst="rect">
            <a:avLst/>
          </a:prstGeom>
        </p:spPr>
      </p:pic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89489" y="20110846"/>
            <a:ext cx="163830" cy="204788"/>
          </a:xfrm>
          <a:prstGeom prst="rect">
            <a:avLst/>
          </a:prstGeom>
        </p:spPr>
      </p:pic>
      <p:sp>
        <p:nvSpPr>
          <p:cNvPr id="57" name="Text 10"/>
          <p:cNvSpPr/>
          <p:nvPr/>
        </p:nvSpPr>
        <p:spPr>
          <a:xfrm>
            <a:off x="875203" y="20554473"/>
            <a:ext cx="1796415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Temporal Feature Integration</a:t>
            </a:r>
            <a:endParaRPr lang="en-US" sz="1400" dirty="0"/>
          </a:p>
        </p:txBody>
      </p:sp>
      <p:sp>
        <p:nvSpPr>
          <p:cNvPr id="58" name="Text 11"/>
          <p:cNvSpPr/>
          <p:nvPr/>
        </p:nvSpPr>
        <p:spPr>
          <a:xfrm>
            <a:off x="875203" y="20860940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Integrate </a:t>
            </a:r>
            <a:r>
              <a:rPr lang="en-US" sz="12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time series forecasting</a:t>
            </a: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methods to predict year-wise temperature trends with greater accuracy and temporal context.</a:t>
            </a:r>
            <a:endParaRPr lang="en-US" sz="1200" dirty="0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5737" y="20198000"/>
            <a:ext cx="4295775" cy="60960"/>
          </a:xfrm>
          <a:prstGeom prst="rect">
            <a:avLst/>
          </a:prstGeom>
        </p:spPr>
      </p:pic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8837" y="20008452"/>
            <a:ext cx="409575" cy="409575"/>
          </a:xfrm>
          <a:prstGeom prst="rect">
            <a:avLst/>
          </a:prstGeom>
        </p:spPr>
      </p:pic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1710" y="20110846"/>
            <a:ext cx="163830" cy="204788"/>
          </a:xfrm>
          <a:prstGeom prst="rect">
            <a:avLst/>
          </a:prstGeom>
        </p:spPr>
      </p:pic>
      <p:sp>
        <p:nvSpPr>
          <p:cNvPr id="62" name="Text 12"/>
          <p:cNvSpPr/>
          <p:nvPr/>
        </p:nvSpPr>
        <p:spPr>
          <a:xfrm>
            <a:off x="5307423" y="20554473"/>
            <a:ext cx="1796415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Hybrid Model Development</a:t>
            </a:r>
            <a:endParaRPr lang="en-US" sz="1400" dirty="0"/>
          </a:p>
        </p:txBody>
      </p:sp>
      <p:sp>
        <p:nvSpPr>
          <p:cNvPr id="63" name="Text 13"/>
          <p:cNvSpPr/>
          <p:nvPr/>
        </p:nvSpPr>
        <p:spPr>
          <a:xfrm>
            <a:off x="5307423" y="20860940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Incorporate </a:t>
            </a:r>
            <a:r>
              <a:rPr lang="en-US" sz="12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satellite or remote sensing data</a:t>
            </a: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to achieve higher granularity and broader spatial coverage for input features.</a:t>
            </a:r>
            <a:endParaRPr lang="en-US" sz="1200" dirty="0"/>
          </a:p>
        </p:txBody>
      </p:sp>
      <p:pic>
        <p:nvPicPr>
          <p:cNvPr id="14336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7958" y="20198000"/>
            <a:ext cx="4295775" cy="60960"/>
          </a:xfrm>
          <a:prstGeom prst="rect">
            <a:avLst/>
          </a:prstGeom>
        </p:spPr>
      </p:pic>
      <p:pic>
        <p:nvPicPr>
          <p:cNvPr id="14337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31058" y="20008452"/>
            <a:ext cx="409575" cy="409575"/>
          </a:xfrm>
          <a:prstGeom prst="rect">
            <a:avLst/>
          </a:prstGeom>
        </p:spPr>
      </p:pic>
      <p:pic>
        <p:nvPicPr>
          <p:cNvPr id="14338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53931" y="20110846"/>
            <a:ext cx="163830" cy="204788"/>
          </a:xfrm>
          <a:prstGeom prst="rect">
            <a:avLst/>
          </a:prstGeom>
        </p:spPr>
      </p:pic>
      <p:sp>
        <p:nvSpPr>
          <p:cNvPr id="14339" name="Text 14"/>
          <p:cNvSpPr/>
          <p:nvPr/>
        </p:nvSpPr>
        <p:spPr>
          <a:xfrm>
            <a:off x="9739644" y="20554473"/>
            <a:ext cx="1858923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Interactive Deployment</a:t>
            </a:r>
            <a:endParaRPr lang="en-US" sz="1400" dirty="0"/>
          </a:p>
        </p:txBody>
      </p:sp>
      <p:sp>
        <p:nvSpPr>
          <p:cNvPr id="14341" name="Text 15"/>
          <p:cNvSpPr/>
          <p:nvPr/>
        </p:nvSpPr>
        <p:spPr>
          <a:xfrm>
            <a:off x="9739644" y="20860940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Develop a </a:t>
            </a:r>
            <a:r>
              <a:rPr lang="en-US" sz="12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real-time, interactive dashboard</a:t>
            </a: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using Streamlit or Flask, enabling public access and broader climate awareness.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-23152" y="-1"/>
            <a:ext cx="14630400" cy="5456831"/>
          </a:xfrm>
          <a:prstGeom prst="rect">
            <a:avLst/>
          </a:prstGeom>
          <a:gradFill>
            <a:gsLst>
              <a:gs pos="0">
                <a:srgbClr val="D0E3E9"/>
              </a:gs>
              <a:gs pos="100000">
                <a:schemeClr val="accent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/>
          <p:cNvSpPr/>
          <p:nvPr/>
        </p:nvSpPr>
        <p:spPr>
          <a:xfrm>
            <a:off x="-11576" y="2857381"/>
            <a:ext cx="14630400" cy="5422739"/>
          </a:xfrm>
          <a:prstGeom prst="rect">
            <a:avLst/>
          </a:prstGeom>
          <a:gradFill>
            <a:gsLst>
              <a:gs pos="100000">
                <a:srgbClr val="99BACB"/>
              </a:gs>
              <a:gs pos="100000">
                <a:schemeClr val="accent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410" name="Picture 2" descr="The Spiritual Discipline of Sky: How the Heavens Shape a Heart | Desiring  Go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76" y="312516"/>
            <a:ext cx="14630400" cy="8009681"/>
          </a:xfrm>
          <a:prstGeom prst="flowChartPunchedTap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/>
          <p:cNvSpPr/>
          <p:nvPr/>
        </p:nvSpPr>
        <p:spPr>
          <a:xfrm>
            <a:off x="723517" y="1207769"/>
            <a:ext cx="7413784" cy="4491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Conclusion &amp; Future Scope – Wrapping It All 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23517" y="1861660"/>
            <a:ext cx="2155746" cy="269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Conclusion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17" y="2525434"/>
            <a:ext cx="4295775" cy="6096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617" y="2335886"/>
            <a:ext cx="409575" cy="40957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9489" y="2438280"/>
            <a:ext cx="163830" cy="20478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75203" y="2881907"/>
            <a:ext cx="1796415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Model Success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875203" y="3188374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Among Random Forest, LSTM, and Transformer, the Transformer model showed the lowest MAE and RMSE, making it the most accurate predictor for average temperature.</a:t>
            </a:r>
            <a:endParaRPr lang="en-US" sz="12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737" y="2525434"/>
            <a:ext cx="4295775" cy="60960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837" y="2335886"/>
            <a:ext cx="409575" cy="409575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1710" y="2438280"/>
            <a:ext cx="163830" cy="204788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5307423" y="2881907"/>
            <a:ext cx="1796415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Deep Learning with Attention Proved Effective</a:t>
            </a:r>
            <a:endParaRPr lang="en-US" sz="1400" dirty="0"/>
          </a:p>
        </p:txBody>
      </p:sp>
      <p:sp>
        <p:nvSpPr>
          <p:cNvPr id="14" name="Text 5"/>
          <p:cNvSpPr/>
          <p:nvPr/>
        </p:nvSpPr>
        <p:spPr>
          <a:xfrm>
            <a:off x="5307423" y="3188374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Attention mechanisms in the </a:t>
            </a:r>
            <a:r>
              <a:rPr lang="en-US" sz="1050" dirty="0">
                <a:latin typeface="Montserrat" panose="00000500000000000000" pitchFamily="34" charset="0"/>
              </a:rPr>
              <a:t>Transformer</a:t>
            </a: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helped it better learn from complex climate features compared to traditional RNNs like LSTM.</a:t>
            </a:r>
            <a:endParaRPr lang="en-US" sz="120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958" y="2525434"/>
            <a:ext cx="4295775" cy="60960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058" y="2335886"/>
            <a:ext cx="409575" cy="409575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3931" y="2438280"/>
            <a:ext cx="163830" cy="204788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9739644" y="2881907"/>
            <a:ext cx="1998226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Random Forest Still a Strong Baseline</a:t>
            </a:r>
            <a:endParaRPr lang="en-US" sz="1400" dirty="0"/>
          </a:p>
        </p:txBody>
      </p:sp>
      <p:sp>
        <p:nvSpPr>
          <p:cNvPr id="19" name="Text 7"/>
          <p:cNvSpPr/>
          <p:nvPr/>
        </p:nvSpPr>
        <p:spPr>
          <a:xfrm>
            <a:off x="9739644" y="3188374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200" dirty="0">
                <a:latin typeface="Montserrat" panose="00000500000000000000" pitchFamily="34" charset="0"/>
              </a:rPr>
              <a:t>Despite being a traditional model, Random Forest delivered competitive results, making it a reliable and interpretable alternative.</a:t>
            </a:r>
            <a:endParaRPr lang="en-US" sz="1200" dirty="0">
              <a:latin typeface="Montserrat" panose="00000500000000000000" pitchFamily="34" charset="0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723517" y="4217274"/>
            <a:ext cx="13160216" cy="24646"/>
          </a:xfrm>
          <a:prstGeom prst="rect">
            <a:avLst/>
          </a:prstGeom>
          <a:solidFill>
            <a:srgbClr val="384653">
              <a:alpha val="50000"/>
            </a:srgbClr>
          </a:solidFill>
        </p:spPr>
      </p:sp>
      <p:sp>
        <p:nvSpPr>
          <p:cNvPr id="21" name="Text 9"/>
          <p:cNvSpPr/>
          <p:nvPr/>
        </p:nvSpPr>
        <p:spPr>
          <a:xfrm>
            <a:off x="723517" y="4446626"/>
            <a:ext cx="2155746" cy="269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Future Scope</a:t>
            </a:r>
            <a:endParaRPr lang="en-US" sz="165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17" y="5110400"/>
            <a:ext cx="4295775" cy="6096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617" y="4920852"/>
            <a:ext cx="409575" cy="409575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9489" y="5023246"/>
            <a:ext cx="163830" cy="204788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875203" y="5466873"/>
            <a:ext cx="1796415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Temporal Feature Integration</a:t>
            </a:r>
            <a:endParaRPr lang="en-US" sz="1400" dirty="0"/>
          </a:p>
        </p:txBody>
      </p:sp>
      <p:sp>
        <p:nvSpPr>
          <p:cNvPr id="26" name="Text 11"/>
          <p:cNvSpPr/>
          <p:nvPr/>
        </p:nvSpPr>
        <p:spPr>
          <a:xfrm>
            <a:off x="875203" y="5773340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Integrate </a:t>
            </a:r>
            <a:r>
              <a:rPr lang="en-US" sz="12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time series forecasting</a:t>
            </a: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methods to predict year-wise temperature trends with greater accuracy and temporal context.</a:t>
            </a:r>
            <a:endParaRPr lang="en-US" sz="120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737" y="5110400"/>
            <a:ext cx="4295775" cy="60960"/>
          </a:xfrm>
          <a:prstGeom prst="rect">
            <a:avLst/>
          </a:prstGeom>
        </p:spPr>
      </p:pic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837" y="4920852"/>
            <a:ext cx="409575" cy="409575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1710" y="5023246"/>
            <a:ext cx="163830" cy="204788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5307423" y="5466873"/>
            <a:ext cx="1796415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Hybrid Model Development</a:t>
            </a:r>
            <a:endParaRPr lang="en-US" sz="1400" dirty="0"/>
          </a:p>
        </p:txBody>
      </p:sp>
      <p:sp>
        <p:nvSpPr>
          <p:cNvPr id="31" name="Text 13"/>
          <p:cNvSpPr/>
          <p:nvPr/>
        </p:nvSpPr>
        <p:spPr>
          <a:xfrm>
            <a:off x="5307423" y="5773340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Incorporate </a:t>
            </a:r>
            <a:r>
              <a:rPr lang="en-US" sz="12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satellite or remote sensing data</a:t>
            </a: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to achieve higher granularity and broader spatial coverage for input features.</a:t>
            </a:r>
            <a:endParaRPr lang="en-US" sz="1200" dirty="0"/>
          </a:p>
        </p:txBody>
      </p:sp>
      <p:pic>
        <p:nvPicPr>
          <p:cNvPr id="32" name="Image 1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958" y="5110400"/>
            <a:ext cx="4295775" cy="60960"/>
          </a:xfrm>
          <a:prstGeom prst="rect">
            <a:avLst/>
          </a:prstGeom>
        </p:spPr>
      </p:pic>
      <p:pic>
        <p:nvPicPr>
          <p:cNvPr id="33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058" y="4920852"/>
            <a:ext cx="409575" cy="409575"/>
          </a:xfrm>
          <a:prstGeom prst="rect">
            <a:avLst/>
          </a:prstGeom>
        </p:spPr>
      </p:pic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53931" y="5023246"/>
            <a:ext cx="163830" cy="204788"/>
          </a:xfrm>
          <a:prstGeom prst="rect">
            <a:avLst/>
          </a:prstGeom>
        </p:spPr>
      </p:pic>
      <p:sp>
        <p:nvSpPr>
          <p:cNvPr id="35" name="Text 14"/>
          <p:cNvSpPr/>
          <p:nvPr/>
        </p:nvSpPr>
        <p:spPr>
          <a:xfrm>
            <a:off x="9739644" y="5466873"/>
            <a:ext cx="1858923" cy="224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Interactive Deployment</a:t>
            </a:r>
            <a:endParaRPr lang="en-US" sz="1400" dirty="0"/>
          </a:p>
        </p:txBody>
      </p:sp>
      <p:sp>
        <p:nvSpPr>
          <p:cNvPr id="36" name="Text 15"/>
          <p:cNvSpPr/>
          <p:nvPr/>
        </p:nvSpPr>
        <p:spPr>
          <a:xfrm>
            <a:off x="9739644" y="5773340"/>
            <a:ext cx="3992404" cy="6554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Develop a </a:t>
            </a:r>
            <a:r>
              <a:rPr lang="en-US" sz="1200" b="1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real-time, interactive dashboard</a:t>
            </a:r>
            <a:r>
              <a:rPr lang="en-US" sz="1200" dirty="0"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using Streamlit or Flask, enabling public access and broader climate awareness.</a:t>
            </a:r>
            <a:endParaRPr lang="en-US" sz="1200" dirty="0"/>
          </a:p>
        </p:txBody>
      </p:sp>
      <p:sp>
        <p:nvSpPr>
          <p:cNvPr id="39" name="Text 1"/>
          <p:cNvSpPr/>
          <p:nvPr/>
        </p:nvSpPr>
        <p:spPr>
          <a:xfrm>
            <a:off x="-10302623" y="877729"/>
            <a:ext cx="13113782" cy="21380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0"/>
              </a:lnSpc>
              <a:buNone/>
            </a:pPr>
            <a:r>
              <a:rPr lang="en-US" sz="134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Thank You!</a:t>
            </a:r>
            <a:endParaRPr lang="en-US" sz="13450" dirty="0"/>
          </a:p>
        </p:txBody>
      </p:sp>
      <p:sp>
        <p:nvSpPr>
          <p:cNvPr id="40" name="Text 2"/>
          <p:cNvSpPr/>
          <p:nvPr/>
        </p:nvSpPr>
        <p:spPr>
          <a:xfrm>
            <a:off x="-10302623" y="3340656"/>
            <a:ext cx="4936927" cy="6005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Questions &amp; Answers </a:t>
            </a:r>
            <a:r>
              <a:rPr lang="en-US" sz="35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💬</a:t>
            </a:r>
            <a:endParaRPr lang="en-US" sz="3550" dirty="0"/>
          </a:p>
        </p:txBody>
      </p:sp>
      <p:sp>
        <p:nvSpPr>
          <p:cNvPr id="57" name="Text 4"/>
          <p:cNvSpPr/>
          <p:nvPr/>
        </p:nvSpPr>
        <p:spPr>
          <a:xfrm>
            <a:off x="15058640" y="5203269"/>
            <a:ext cx="1311378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👤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sz="1700" b="1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Presenter: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Saikumar</a:t>
            </a:r>
            <a:endParaRPr lang="en-US" sz="1700" dirty="0"/>
          </a:p>
        </p:txBody>
      </p:sp>
      <p:sp>
        <p:nvSpPr>
          <p:cNvPr id="58" name="Text 5"/>
          <p:cNvSpPr/>
          <p:nvPr/>
        </p:nvSpPr>
        <p:spPr>
          <a:xfrm>
            <a:off x="15058640" y="5801320"/>
            <a:ext cx="1311378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📧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sz="1700" b="1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Email: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saikumar@email.com</a:t>
            </a:r>
            <a:endParaRPr lang="en-US" sz="1700" dirty="0"/>
          </a:p>
        </p:txBody>
      </p:sp>
      <p:sp>
        <p:nvSpPr>
          <p:cNvPr id="59" name="Text 6"/>
          <p:cNvSpPr/>
          <p:nvPr/>
        </p:nvSpPr>
        <p:spPr>
          <a:xfrm>
            <a:off x="15058640" y="6399371"/>
            <a:ext cx="1311378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🐙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sz="1700" b="1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GitHub: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sz="1700" u="sng" dirty="0">
                <a:solidFill>
                  <a:srgbClr val="155984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  <a:hlinkClick r:id="rId10"/>
              </a:rPr>
              <a:t>github.com/saikumar-ml</a:t>
            </a:r>
            <a:endParaRPr lang="en-US" sz="1700" dirty="0"/>
          </a:p>
        </p:txBody>
      </p:sp>
      <p:sp>
        <p:nvSpPr>
          <p:cNvPr id="60" name="Text 7"/>
          <p:cNvSpPr/>
          <p:nvPr/>
        </p:nvSpPr>
        <p:spPr>
          <a:xfrm>
            <a:off x="15058640" y="6997422"/>
            <a:ext cx="1311378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🏫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sz="1700" b="1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Institution: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Our Research Institution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>
              <a:alpha val="85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758309" y="877729"/>
            <a:ext cx="13113782" cy="21380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0"/>
              </a:lnSpc>
              <a:buNone/>
            </a:pPr>
            <a:r>
              <a:rPr lang="en-US" sz="134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Thank You!</a:t>
            </a:r>
            <a:endParaRPr lang="en-US" sz="13450" dirty="0"/>
          </a:p>
        </p:txBody>
      </p:sp>
      <p:sp>
        <p:nvSpPr>
          <p:cNvPr id="5" name="Text 2"/>
          <p:cNvSpPr/>
          <p:nvPr/>
        </p:nvSpPr>
        <p:spPr>
          <a:xfrm>
            <a:off x="758309" y="3340656"/>
            <a:ext cx="4936927" cy="6005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Questions &amp; Answers </a:t>
            </a:r>
            <a:r>
              <a:rPr lang="en-US" sz="3550" b="1" dirty="0">
                <a:solidFill>
                  <a:srgbClr val="000000"/>
                </a:solidFill>
                <a:latin typeface="Barlow Bold" panose="00000800000000000000" pitchFamily="34" charset="0"/>
                <a:ea typeface="Barlow Bold" panose="00000800000000000000" pitchFamily="34" charset="-122"/>
                <a:cs typeface="Barlow Bold" panose="00000800000000000000" pitchFamily="34" charset="-120"/>
              </a:rPr>
              <a:t>💬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58309" y="4266128"/>
            <a:ext cx="131137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309" y="5203269"/>
            <a:ext cx="1311378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👤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sz="1700" b="1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Presenter: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Sai kumar Gaddam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309" y="5801320"/>
            <a:ext cx="1311378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📧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sz="1700" b="1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Email: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saikumargaddam949@gmail.com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8309" y="6399371"/>
            <a:ext cx="1311378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🐙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sz="1700" b="1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GitHub: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altLang="en-US" sz="1700" dirty="0"/>
              <a:t>https://github.com/saikumar-gaddam/Project-</a:t>
            </a:r>
            <a:endParaRPr lang="en-US" alt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309" y="6997422"/>
            <a:ext cx="1311378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🏫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</a:t>
            </a:r>
            <a:r>
              <a:rPr lang="en-US" sz="1700" b="1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Institution:</a:t>
            </a:r>
            <a:r>
              <a:rPr lang="en-US" sz="1700" dirty="0">
                <a:solidFill>
                  <a:srgbClr val="384653"/>
                </a:solidFill>
                <a:latin typeface="Montserrat" panose="00000500000000000000" pitchFamily="34" charset="0"/>
                <a:ea typeface="Montserrat" panose="00000500000000000000" pitchFamily="34" charset="-122"/>
                <a:cs typeface="Montserrat" panose="00000500000000000000" pitchFamily="34" charset="-120"/>
              </a:rPr>
              <a:t> Our Research Institution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17994</Words>
  <Application>WPS Presentation</Application>
  <PresentationFormat>Custom</PresentationFormat>
  <Paragraphs>765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Barlow Bold</vt:lpstr>
      <vt:lpstr>Barlow Bold</vt:lpstr>
      <vt:lpstr>Barlow Bold</vt:lpstr>
      <vt:lpstr>Montserrat</vt:lpstr>
      <vt:lpstr>Montserrat</vt:lpstr>
      <vt:lpstr>Montserrat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Sai Kumar Gaddam</cp:lastModifiedBy>
  <cp:revision>2</cp:revision>
  <dcterms:created xsi:type="dcterms:W3CDTF">2025-07-11T16:05:00Z</dcterms:created>
  <dcterms:modified xsi:type="dcterms:W3CDTF">2025-07-14T18:34:22Z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B57A072C2701469A8242DD0022BB601D_12</vt:lpwstr>
  </property>
  <property fmtid="{D5CDD505-2E9C-101B-9397-08002B2CF9AE}" pid="3" name="KSOProductBuildVer">
    <vt:lpwstr>1033-12.2.0.21931</vt:lpwstr>
  </property>
</Properties>
</file>